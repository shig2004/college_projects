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11"/>
  </p:notesMasterIdLst>
  <p:sldIdLst>
    <p:sldId id="498" r:id="rId2"/>
    <p:sldId id="499" r:id="rId3"/>
    <p:sldId id="500" r:id="rId4"/>
    <p:sldId id="501" r:id="rId5"/>
    <p:sldId id="502" r:id="rId6"/>
    <p:sldId id="503" r:id="rId7"/>
    <p:sldId id="504" r:id="rId8"/>
    <p:sldId id="505" r:id="rId9"/>
    <p:sldId id="50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FF00FF"/>
    <a:srgbClr val="BF175F"/>
    <a:srgbClr val="C950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79AA7E-18C5-6590-DE0F-013636C853C9}" v="523" dt="2026-02-27T04:58:40.1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54" autoAdjust="0"/>
    <p:restoredTop sz="94531" autoAdjust="0"/>
  </p:normalViewPr>
  <p:slideViewPr>
    <p:cSldViewPr snapToGrid="0">
      <p:cViewPr varScale="1">
        <p:scale>
          <a:sx n="78" d="100"/>
          <a:sy n="78" d="100"/>
        </p:scale>
        <p:origin x="840" y="125"/>
      </p:cViewPr>
      <p:guideLst/>
    </p:cSldViewPr>
  </p:slideViewPr>
  <p:outlineViewPr>
    <p:cViewPr>
      <p:scale>
        <a:sx n="33" d="100"/>
        <a:sy n="33" d="100"/>
      </p:scale>
      <p:origin x="0" y="-5336"/>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1B0E7-C880-46A6-A12C-1884105E41A9}"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FB55DC-5278-4CF2-9811-6642CB7F1CEE}" type="slidenum">
              <a:rPr lang="en-US" smtClean="0"/>
              <a:t>‹#›</a:t>
            </a:fld>
            <a:endParaRPr lang="en-US"/>
          </a:p>
        </p:txBody>
      </p:sp>
    </p:spTree>
    <p:extLst>
      <p:ext uri="{BB962C8B-B14F-4D97-AF65-F5344CB8AC3E}">
        <p14:creationId xmlns:p14="http://schemas.microsoft.com/office/powerpoint/2010/main" val="957917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85800" lvl="1" indent="-228600">
              <a:buAutoNum type="arabicPeriod"/>
            </a:pPr>
            <a:endParaRPr lang="en-US" dirty="0"/>
          </a:p>
        </p:txBody>
      </p:sp>
      <p:sp>
        <p:nvSpPr>
          <p:cNvPr id="4" name="Slide Number Placeholder 3"/>
          <p:cNvSpPr>
            <a:spLocks noGrp="1"/>
          </p:cNvSpPr>
          <p:nvPr>
            <p:ph type="sldNum" sz="quarter" idx="5"/>
          </p:nvPr>
        </p:nvSpPr>
        <p:spPr/>
        <p:txBody>
          <a:bodyPr/>
          <a:lstStyle/>
          <a:p>
            <a:fld id="{F2FB55DC-5278-4CF2-9811-6642CB7F1CEE}" type="slidenum">
              <a:rPr lang="en-US" smtClean="0"/>
              <a:t>1</a:t>
            </a:fld>
            <a:endParaRPr lang="en-US"/>
          </a:p>
        </p:txBody>
      </p:sp>
    </p:spTree>
    <p:extLst>
      <p:ext uri="{BB962C8B-B14F-4D97-AF65-F5344CB8AC3E}">
        <p14:creationId xmlns:p14="http://schemas.microsoft.com/office/powerpoint/2010/main" val="15635283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823B3-A2D8-4FA5-BCAD-2EF0B5923C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A70862-D6C6-43E5-B858-4E9BA56849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1DF3F0-2F6C-4EE6-8916-0462605D142C}"/>
              </a:ext>
            </a:extLst>
          </p:cNvPr>
          <p:cNvSpPr>
            <a:spLocks noGrp="1"/>
          </p:cNvSpPr>
          <p:nvPr>
            <p:ph type="dt" sz="half" idx="10"/>
          </p:nvPr>
        </p:nvSpPr>
        <p:spPr/>
        <p:txBody>
          <a:bodyPr/>
          <a:lstStyle/>
          <a:p>
            <a:r>
              <a:rPr lang="en-US"/>
              <a:t>© Professor Vishnu Pamula</a:t>
            </a:r>
            <a:endParaRPr lang="en-US" dirty="0"/>
          </a:p>
        </p:txBody>
      </p:sp>
      <p:sp>
        <p:nvSpPr>
          <p:cNvPr id="5" name="Footer Placeholder 4">
            <a:extLst>
              <a:ext uri="{FF2B5EF4-FFF2-40B4-BE49-F238E27FC236}">
                <a16:creationId xmlns:a16="http://schemas.microsoft.com/office/drawing/2014/main" id="{B60D6FE9-7258-4256-8E95-71100FA7F517}"/>
              </a:ext>
            </a:extLst>
          </p:cNvPr>
          <p:cNvSpPr>
            <a:spLocks noGrp="1"/>
          </p:cNvSpPr>
          <p:nvPr>
            <p:ph type="ftr" sz="quarter" idx="11"/>
          </p:nvPr>
        </p:nvSpPr>
        <p:spPr/>
        <p:txBody>
          <a:body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DC6241D8-4E60-4904-9216-31AC58D11A27}"/>
              </a:ext>
            </a:extLst>
          </p:cNvPr>
          <p:cNvSpPr>
            <a:spLocks noGrp="1"/>
          </p:cNvSpPr>
          <p:nvPr>
            <p:ph type="sldNum" sz="quarter" idx="12"/>
          </p:nvPr>
        </p:nvSpPr>
        <p:spPr/>
        <p:txBody>
          <a:bodyPr/>
          <a:lstStyle/>
          <a:p>
            <a:fld id="{6BB18165-63BA-465A-B0E3-50AEDDBFA692}" type="slidenum">
              <a:rPr lang="en-US" smtClean="0"/>
              <a:pPr/>
              <a:t>‹#›</a:t>
            </a:fld>
            <a:endParaRPr lang="en-US" dirty="0"/>
          </a:p>
        </p:txBody>
      </p:sp>
      <p:pic>
        <p:nvPicPr>
          <p:cNvPr id="7" name="Picture 6" descr="Text&#10;&#10;Description automatically generated">
            <a:extLst>
              <a:ext uri="{FF2B5EF4-FFF2-40B4-BE49-F238E27FC236}">
                <a16:creationId xmlns:a16="http://schemas.microsoft.com/office/drawing/2014/main" id="{6A9676B4-8083-4581-98B3-7C0A411C58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2199" y="40495"/>
            <a:ext cx="1645071" cy="711493"/>
          </a:xfrm>
          <a:prstGeom prst="rect">
            <a:avLst/>
          </a:prstGeom>
        </p:spPr>
      </p:pic>
    </p:spTree>
    <p:extLst>
      <p:ext uri="{BB962C8B-B14F-4D97-AF65-F5344CB8AC3E}">
        <p14:creationId xmlns:p14="http://schemas.microsoft.com/office/powerpoint/2010/main" val="2101406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DE26-63B8-4C7F-B2D2-F4167C0E0B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B3D385-169C-4452-B4DF-585A7E641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BC0CC4-F0BF-432F-99FF-87B8008E0B02}"/>
              </a:ext>
            </a:extLst>
          </p:cNvPr>
          <p:cNvSpPr>
            <a:spLocks noGrp="1"/>
          </p:cNvSpPr>
          <p:nvPr>
            <p:ph type="dt" sz="half" idx="10"/>
          </p:nvPr>
        </p:nvSpPr>
        <p:spPr/>
        <p:txBody>
          <a:bodyPr/>
          <a:lstStyle>
            <a:lvl1pPr>
              <a:defRPr/>
            </a:lvl1pPr>
          </a:lstStyle>
          <a:p>
            <a:r>
              <a:rPr lang="en-US"/>
              <a:t>© Professor Vishnu Pamula</a:t>
            </a:r>
            <a:endParaRPr lang="en-US" dirty="0"/>
          </a:p>
        </p:txBody>
      </p:sp>
      <p:sp>
        <p:nvSpPr>
          <p:cNvPr id="5" name="Footer Placeholder 4">
            <a:extLst>
              <a:ext uri="{FF2B5EF4-FFF2-40B4-BE49-F238E27FC236}">
                <a16:creationId xmlns:a16="http://schemas.microsoft.com/office/drawing/2014/main" id="{3677228E-AF85-47A1-AB34-08F2B9392DE7}"/>
              </a:ext>
            </a:extLst>
          </p:cNvPr>
          <p:cNvSpPr>
            <a:spLocks noGrp="1"/>
          </p:cNvSpPr>
          <p:nvPr>
            <p:ph type="ftr" sz="quarter" idx="11"/>
          </p:nvPr>
        </p:nvSpPr>
        <p:spPr/>
        <p:txBody>
          <a:bodyPr/>
          <a:lstStyle>
            <a:lvl1pPr algn="ctr">
              <a:defRPr/>
            </a:lvl1p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7BCCDC79-9DE1-42DB-8376-AABFA3332033}"/>
              </a:ext>
            </a:extLst>
          </p:cNvPr>
          <p:cNvSpPr>
            <a:spLocks noGrp="1"/>
          </p:cNvSpPr>
          <p:nvPr>
            <p:ph type="sldNum" sz="quarter" idx="12"/>
          </p:nvPr>
        </p:nvSpPr>
        <p:spPr/>
        <p:txBody>
          <a:bodyPr/>
          <a:lstStyle/>
          <a:p>
            <a:fld id="{6BB18165-63BA-465A-B0E3-50AEDDBFA692}" type="slidenum">
              <a:rPr lang="en-US" smtClean="0"/>
              <a:t>‹#›</a:t>
            </a:fld>
            <a:endParaRPr lang="en-US"/>
          </a:p>
        </p:txBody>
      </p:sp>
      <p:pic>
        <p:nvPicPr>
          <p:cNvPr id="7" name="Picture 6" descr="Text&#10;&#10;Description automatically generated">
            <a:extLst>
              <a:ext uri="{FF2B5EF4-FFF2-40B4-BE49-F238E27FC236}">
                <a16:creationId xmlns:a16="http://schemas.microsoft.com/office/drawing/2014/main" id="{77643E56-11EE-4D44-9311-7A1BAB4B93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2199" y="40495"/>
            <a:ext cx="1645071" cy="711493"/>
          </a:xfrm>
          <a:prstGeom prst="rect">
            <a:avLst/>
          </a:prstGeom>
        </p:spPr>
      </p:pic>
      <p:cxnSp>
        <p:nvCxnSpPr>
          <p:cNvPr id="8" name="Straight Connector 7">
            <a:extLst>
              <a:ext uri="{FF2B5EF4-FFF2-40B4-BE49-F238E27FC236}">
                <a16:creationId xmlns:a16="http://schemas.microsoft.com/office/drawing/2014/main" id="{3CD54FA6-8848-2A4D-8D72-E06E354782F6}"/>
              </a:ext>
            </a:extLst>
          </p:cNvPr>
          <p:cNvCxnSpPr/>
          <p:nvPr userDrawn="1"/>
        </p:nvCxnSpPr>
        <p:spPr>
          <a:xfrm>
            <a:off x="0" y="6385313"/>
            <a:ext cx="12192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0123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66501-7104-47BE-8885-3D5F5B3C11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BCBE96-1B2E-4ABE-9ABA-9A61031286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72B857-1EC5-48A7-8F81-A2E2759E4863}"/>
              </a:ext>
            </a:extLst>
          </p:cNvPr>
          <p:cNvSpPr>
            <a:spLocks noGrp="1"/>
          </p:cNvSpPr>
          <p:nvPr>
            <p:ph type="dt" sz="half" idx="10"/>
          </p:nvPr>
        </p:nvSpPr>
        <p:spPr/>
        <p:txBody>
          <a:bodyPr/>
          <a:lstStyle>
            <a:lvl1pPr>
              <a:defRPr/>
            </a:lvl1pPr>
          </a:lstStyle>
          <a:p>
            <a:r>
              <a:rPr lang="en-US"/>
              <a:t>© Professor Vishnu Pamula</a:t>
            </a:r>
            <a:endParaRPr lang="en-US" dirty="0"/>
          </a:p>
        </p:txBody>
      </p:sp>
      <p:sp>
        <p:nvSpPr>
          <p:cNvPr id="5" name="Footer Placeholder 4">
            <a:extLst>
              <a:ext uri="{FF2B5EF4-FFF2-40B4-BE49-F238E27FC236}">
                <a16:creationId xmlns:a16="http://schemas.microsoft.com/office/drawing/2014/main" id="{E3ECAE66-DD89-4BC9-9A74-0780D4756282}"/>
              </a:ext>
            </a:extLst>
          </p:cNvPr>
          <p:cNvSpPr>
            <a:spLocks noGrp="1"/>
          </p:cNvSpPr>
          <p:nvPr>
            <p:ph type="ftr" sz="quarter" idx="11"/>
          </p:nvPr>
        </p:nvSpPr>
        <p:spPr/>
        <p:txBody>
          <a:bodyPr/>
          <a:lstStyle>
            <a:lvl1pPr algn="ctr">
              <a:defRPr/>
            </a:lvl1p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9577A394-123F-498E-B389-BC962263D40A}"/>
              </a:ext>
            </a:extLst>
          </p:cNvPr>
          <p:cNvSpPr>
            <a:spLocks noGrp="1"/>
          </p:cNvSpPr>
          <p:nvPr>
            <p:ph type="sldNum" sz="quarter" idx="12"/>
          </p:nvPr>
        </p:nvSpPr>
        <p:spPr/>
        <p:txBody>
          <a:bodyPr/>
          <a:lstStyle/>
          <a:p>
            <a:fld id="{6BB18165-63BA-465A-B0E3-50AEDDBFA692}" type="slidenum">
              <a:rPr lang="en-US" smtClean="0"/>
              <a:t>‹#›</a:t>
            </a:fld>
            <a:endParaRPr lang="en-US"/>
          </a:p>
        </p:txBody>
      </p:sp>
    </p:spTree>
    <p:extLst>
      <p:ext uri="{BB962C8B-B14F-4D97-AF65-F5344CB8AC3E}">
        <p14:creationId xmlns:p14="http://schemas.microsoft.com/office/powerpoint/2010/main" val="11576397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69122C-DB0A-4BEF-B659-C3444D401E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50303E-25FB-4EF2-8E73-E78AD11B1F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3E609-ED03-487D-BAD5-6555F9014D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Professor Vishnu Pamula</a:t>
            </a:r>
            <a:endParaRPr lang="en-US" dirty="0"/>
          </a:p>
        </p:txBody>
      </p:sp>
      <p:sp>
        <p:nvSpPr>
          <p:cNvPr id="5" name="Footer Placeholder 4">
            <a:extLst>
              <a:ext uri="{FF2B5EF4-FFF2-40B4-BE49-F238E27FC236}">
                <a16:creationId xmlns:a16="http://schemas.microsoft.com/office/drawing/2014/main" id="{FC090471-A001-4C2E-A855-8AD87F399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721D0F45-0113-4C73-B095-DB426E99E1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B18165-63BA-465A-B0E3-50AEDDBFA692}" type="slidenum">
              <a:rPr lang="en-US" smtClean="0"/>
              <a:t>‹#›</a:t>
            </a:fld>
            <a:endParaRPr lang="en-US"/>
          </a:p>
        </p:txBody>
      </p:sp>
    </p:spTree>
    <p:extLst>
      <p:ext uri="{BB962C8B-B14F-4D97-AF65-F5344CB8AC3E}">
        <p14:creationId xmlns:p14="http://schemas.microsoft.com/office/powerpoint/2010/main" val="329710551"/>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DA32-6F0E-43F9-822C-D8519847DE64}"/>
              </a:ext>
            </a:extLst>
          </p:cNvPr>
          <p:cNvSpPr>
            <a:spLocks noGrp="1"/>
          </p:cNvSpPr>
          <p:nvPr>
            <p:ph type="title"/>
          </p:nvPr>
        </p:nvSpPr>
        <p:spPr>
          <a:xfrm>
            <a:off x="0" y="108753"/>
            <a:ext cx="12192000" cy="779016"/>
          </a:xfrm>
        </p:spPr>
        <p:txBody>
          <a:bodyPr>
            <a:normAutofit fontScale="90000"/>
          </a:bodyPr>
          <a:lstStyle/>
          <a:p>
            <a:pPr rtl="0">
              <a:spcBef>
                <a:spcPts val="0"/>
              </a:spcBef>
              <a:spcAft>
                <a:spcPts val="0"/>
              </a:spcAft>
            </a:pPr>
            <a:r>
              <a:rPr lang="en-US" sz="6000" dirty="0">
                <a:solidFill>
                  <a:schemeClr val="accent1">
                    <a:lumMod val="75000"/>
                  </a:schemeClr>
                </a:solidFill>
              </a:rPr>
              <a:t>04-Tableau Assignment 2</a:t>
            </a:r>
          </a:p>
        </p:txBody>
      </p:sp>
      <p:sp>
        <p:nvSpPr>
          <p:cNvPr id="9" name="Date Placeholder 8">
            <a:extLst>
              <a:ext uri="{FF2B5EF4-FFF2-40B4-BE49-F238E27FC236}">
                <a16:creationId xmlns:a16="http://schemas.microsoft.com/office/drawing/2014/main" id="{4B25A316-F47A-404F-9DBC-0CC40DC84B3D}"/>
              </a:ext>
            </a:extLst>
          </p:cNvPr>
          <p:cNvSpPr>
            <a:spLocks noGrp="1"/>
          </p:cNvSpPr>
          <p:nvPr>
            <p:ph type="dt" sz="half" idx="10"/>
          </p:nvPr>
        </p:nvSpPr>
        <p:spPr/>
        <p:txBody>
          <a:bodyPr/>
          <a:lstStyle/>
          <a:p>
            <a:r>
              <a:rPr lang="en-US"/>
              <a:t>© Professor Vishnu Pamula</a:t>
            </a:r>
            <a:endParaRPr lang="en-US" dirty="0"/>
          </a:p>
        </p:txBody>
      </p:sp>
      <p:sp>
        <p:nvSpPr>
          <p:cNvPr id="3" name="Footer Placeholder 2">
            <a:extLst>
              <a:ext uri="{FF2B5EF4-FFF2-40B4-BE49-F238E27FC236}">
                <a16:creationId xmlns:a16="http://schemas.microsoft.com/office/drawing/2014/main" id="{AC1B3544-42BA-B64A-B3DF-FF3D199FE5B7}"/>
              </a:ext>
            </a:extLst>
          </p:cNvPr>
          <p:cNvSpPr>
            <a:spLocks noGrp="1"/>
          </p:cNvSpPr>
          <p:nvPr>
            <p:ph type="ftr" sz="quarter" idx="11"/>
          </p:nvPr>
        </p:nvSpPr>
        <p:spPr/>
        <p:txBody>
          <a:bodyPr/>
          <a:lstStyle/>
          <a:p>
            <a:r>
              <a:rPr lang="en-US"/>
              <a:t>University of Pittsburgh - Johnstown</a:t>
            </a:r>
            <a:endParaRPr lang="en-US" dirty="0"/>
          </a:p>
        </p:txBody>
      </p:sp>
      <p:sp>
        <p:nvSpPr>
          <p:cNvPr id="4" name="Rectangle 3">
            <a:extLst>
              <a:ext uri="{FF2B5EF4-FFF2-40B4-BE49-F238E27FC236}">
                <a16:creationId xmlns:a16="http://schemas.microsoft.com/office/drawing/2014/main" id="{DB45711D-F5DE-6D4C-8A7A-E9E4607817D6}"/>
              </a:ext>
            </a:extLst>
          </p:cNvPr>
          <p:cNvSpPr/>
          <p:nvPr/>
        </p:nvSpPr>
        <p:spPr>
          <a:xfrm>
            <a:off x="356526" y="1031141"/>
            <a:ext cx="11237844" cy="821059"/>
          </a:xfrm>
          <a:prstGeom prst="rect">
            <a:avLst/>
          </a:prstGeom>
        </p:spPr>
        <p:txBody>
          <a:bodyPr wrap="square">
            <a:spAutoFit/>
          </a:bodyPr>
          <a:lstStyle/>
          <a:p>
            <a:pPr>
              <a:lnSpc>
                <a:spcPct val="115000"/>
              </a:lnSpc>
              <a:spcAft>
                <a:spcPts val="1000"/>
              </a:spcAft>
            </a:pPr>
            <a:r>
              <a:rPr lang="en-US" sz="1400" dirty="0">
                <a:ea typeface="Calibri" panose="020F0502020204030204" pitchFamily="34" charset="0"/>
                <a:cs typeface="Times New Roman" panose="02020603050405020304" pitchFamily="18" charset="0"/>
              </a:rPr>
              <a:t>The “04-Tableau-data-file-assignment-2-Coffee Chain </a:t>
            </a:r>
            <a:r>
              <a:rPr lang="en-US" sz="1400" dirty="0" err="1">
                <a:ea typeface="Calibri" panose="020F0502020204030204" pitchFamily="34" charset="0"/>
                <a:cs typeface="Times New Roman" panose="02020603050405020304" pitchFamily="18" charset="0"/>
              </a:rPr>
              <a:t>Sales.xslx</a:t>
            </a:r>
            <a:r>
              <a:rPr lang="en-US" sz="1400" dirty="0">
                <a:ea typeface="Calibri" panose="020F0502020204030204" pitchFamily="34" charset="0"/>
                <a:cs typeface="Times New Roman" panose="02020603050405020304" pitchFamily="18" charset="0"/>
              </a:rPr>
              <a:t>” Excel file contains Sales data of a Coffee Chain. The file has three Sheets each for Product, Location and </a:t>
            </a:r>
            <a:r>
              <a:rPr lang="en-US" sz="1400" dirty="0" err="1">
                <a:ea typeface="Calibri" panose="020F0502020204030204" pitchFamily="34" charset="0"/>
                <a:cs typeface="Times New Roman" panose="02020603050405020304" pitchFamily="18" charset="0"/>
              </a:rPr>
              <a:t>FactTable</a:t>
            </a:r>
            <a:r>
              <a:rPr lang="en-US" sz="1400" dirty="0">
                <a:ea typeface="Calibri" panose="020F0502020204030204" pitchFamily="34" charset="0"/>
                <a:cs typeface="Times New Roman" panose="02020603050405020304" pitchFamily="18" charset="0"/>
              </a:rPr>
              <a:t> (like 3 tables in a SQL database). Get the data from this Excel file into Tableau by joining the </a:t>
            </a:r>
            <a:r>
              <a:rPr lang="en-US" sz="1400" dirty="0" err="1">
                <a:ea typeface="Calibri" panose="020F0502020204030204" pitchFamily="34" charset="0"/>
                <a:cs typeface="Times New Roman" panose="02020603050405020304" pitchFamily="18" charset="0"/>
              </a:rPr>
              <a:t>FactTable</a:t>
            </a:r>
            <a:r>
              <a:rPr lang="en-US" sz="1400" dirty="0">
                <a:ea typeface="Calibri" panose="020F0502020204030204" pitchFamily="34" charset="0"/>
                <a:cs typeface="Times New Roman" panose="02020603050405020304" pitchFamily="18" charset="0"/>
              </a:rPr>
              <a:t> to Product and Location. Then create necessary visualizations to answer these questions. Add additional Slides as needed.  </a:t>
            </a:r>
            <a:endParaRPr lang="en-US" sz="1200" dirty="0">
              <a:ea typeface="Calibri" panose="020F0502020204030204" pitchFamily="34"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27A97A69-E85C-6D42-88D9-C3A73F456D6F}"/>
              </a:ext>
            </a:extLst>
          </p:cNvPr>
          <p:cNvSpPr>
            <a:spLocks noGrp="1"/>
          </p:cNvSpPr>
          <p:nvPr>
            <p:ph type="sldNum" sz="quarter" idx="12"/>
          </p:nvPr>
        </p:nvSpPr>
        <p:spPr/>
        <p:txBody>
          <a:bodyPr/>
          <a:lstStyle/>
          <a:p>
            <a:fld id="{6BB18165-63BA-465A-B0E3-50AEDDBFA692}" type="slidenum">
              <a:rPr lang="en-US" smtClean="0"/>
              <a:t>1</a:t>
            </a:fld>
            <a:endParaRPr lang="en-US"/>
          </a:p>
        </p:txBody>
      </p:sp>
      <p:sp>
        <p:nvSpPr>
          <p:cNvPr id="12" name="TextBox 11">
            <a:extLst>
              <a:ext uri="{FF2B5EF4-FFF2-40B4-BE49-F238E27FC236}">
                <a16:creationId xmlns:a16="http://schemas.microsoft.com/office/drawing/2014/main" id="{20730451-BBDE-60B9-BD10-6D748B16BAE9}"/>
              </a:ext>
            </a:extLst>
          </p:cNvPr>
          <p:cNvSpPr txBox="1"/>
          <p:nvPr/>
        </p:nvSpPr>
        <p:spPr>
          <a:xfrm>
            <a:off x="3226179" y="3139212"/>
            <a:ext cx="5741975" cy="584775"/>
          </a:xfrm>
          <a:prstGeom prst="rect">
            <a:avLst/>
          </a:prstGeom>
          <a:noFill/>
        </p:spPr>
        <p:txBody>
          <a:bodyPr wrap="square" lIns="91440" tIns="45720" rIns="91440" bIns="45720" anchor="t">
            <a:spAutoFit/>
          </a:bodyPr>
          <a:lstStyle/>
          <a:p>
            <a:r>
              <a:rPr lang="en-US" sz="3200">
                <a:latin typeface="Times New Roman"/>
                <a:ea typeface="Calibri"/>
                <a:cs typeface="Times New Roman"/>
              </a:rPr>
              <a:t>Questions and answer next slide...</a:t>
            </a:r>
            <a:endParaRPr lang="en-US" sz="3200">
              <a:effectLst/>
              <a:latin typeface="Times New Roman"/>
              <a:ea typeface="Calibri" panose="020F0502020204030204" pitchFamily="34" charset="0"/>
              <a:cs typeface="Times New Roman"/>
            </a:endParaRPr>
          </a:p>
        </p:txBody>
      </p:sp>
    </p:spTree>
    <p:extLst>
      <p:ext uri="{BB962C8B-B14F-4D97-AF65-F5344CB8AC3E}">
        <p14:creationId xmlns:p14="http://schemas.microsoft.com/office/powerpoint/2010/main" val="1115427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F6229-8553-DC39-2E92-26607B5110E3}"/>
              </a:ext>
            </a:extLst>
          </p:cNvPr>
          <p:cNvSpPr>
            <a:spLocks noGrp="1"/>
          </p:cNvSpPr>
          <p:nvPr>
            <p:ph type="title"/>
          </p:nvPr>
        </p:nvSpPr>
        <p:spPr>
          <a:xfrm>
            <a:off x="2117" y="-5292"/>
            <a:ext cx="10515600" cy="1346729"/>
          </a:xfrm>
        </p:spPr>
        <p:txBody>
          <a:bodyPr vert="horz" lIns="91440" tIns="45720" rIns="91440" bIns="45720" rtlCol="0" anchor="ctr">
            <a:noAutofit/>
          </a:bodyPr>
          <a:lstStyle/>
          <a:p>
            <a:r>
              <a:rPr lang="en-US" sz="2000" b="1">
                <a:ea typeface="+mj-lt"/>
                <a:cs typeface="+mj-lt"/>
              </a:rPr>
              <a:t>Q1.) Your manager is interested in finding out if total sales by product type is affected by market size? </a:t>
            </a:r>
            <a:r>
              <a:rPr lang="en-US" sz="2000" b="1" dirty="0">
                <a:ea typeface="+mj-lt"/>
                <a:cs typeface="+mj-lt"/>
              </a:rPr>
              <a:t>Please create a report showing that. Show it both as a table and as a chart. What type of chart did you use? Why?</a:t>
            </a:r>
          </a:p>
        </p:txBody>
      </p:sp>
      <p:sp>
        <p:nvSpPr>
          <p:cNvPr id="4" name="Date Placeholder 3">
            <a:extLst>
              <a:ext uri="{FF2B5EF4-FFF2-40B4-BE49-F238E27FC236}">
                <a16:creationId xmlns:a16="http://schemas.microsoft.com/office/drawing/2014/main" id="{2E23988F-7D06-E660-E15D-D168B8898E89}"/>
              </a:ext>
            </a:extLst>
          </p:cNvPr>
          <p:cNvSpPr>
            <a:spLocks noGrp="1"/>
          </p:cNvSpPr>
          <p:nvPr>
            <p:ph type="dt" sz="half" idx="10"/>
          </p:nvPr>
        </p:nvSpPr>
        <p:spPr/>
        <p:txBody>
          <a:bodyPr/>
          <a:lstStyle/>
          <a:p>
            <a:r>
              <a:rPr lang="en-US"/>
              <a:t>© Professor Vishnu Pamula</a:t>
            </a:r>
            <a:endParaRPr lang="en-US" dirty="0"/>
          </a:p>
        </p:txBody>
      </p:sp>
      <p:sp>
        <p:nvSpPr>
          <p:cNvPr id="5" name="Footer Placeholder 4">
            <a:extLst>
              <a:ext uri="{FF2B5EF4-FFF2-40B4-BE49-F238E27FC236}">
                <a16:creationId xmlns:a16="http://schemas.microsoft.com/office/drawing/2014/main" id="{8AA2F817-A68E-E047-3729-FFCCC6FA2B2D}"/>
              </a:ext>
            </a:extLst>
          </p:cNvPr>
          <p:cNvSpPr>
            <a:spLocks noGrp="1"/>
          </p:cNvSpPr>
          <p:nvPr>
            <p:ph type="ftr" sz="quarter" idx="11"/>
          </p:nvPr>
        </p:nvSpPr>
        <p:spPr/>
        <p:txBody>
          <a:body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726255C6-83F6-B24B-E4D9-7374C01F605D}"/>
              </a:ext>
            </a:extLst>
          </p:cNvPr>
          <p:cNvSpPr>
            <a:spLocks noGrp="1"/>
          </p:cNvSpPr>
          <p:nvPr>
            <p:ph type="sldNum" sz="quarter" idx="12"/>
          </p:nvPr>
        </p:nvSpPr>
        <p:spPr/>
        <p:txBody>
          <a:bodyPr/>
          <a:lstStyle/>
          <a:p>
            <a:fld id="{6BB18165-63BA-465A-B0E3-50AEDDBFA692}" type="slidenum">
              <a:rPr lang="en-US" smtClean="0"/>
              <a:t>2</a:t>
            </a:fld>
            <a:endParaRPr lang="en-US"/>
          </a:p>
        </p:txBody>
      </p:sp>
      <p:pic>
        <p:nvPicPr>
          <p:cNvPr id="8" name="Picture 7" descr="A screenshot of a product type and market&#10;&#10;AI-generated content may be incorrect.">
            <a:extLst>
              <a:ext uri="{FF2B5EF4-FFF2-40B4-BE49-F238E27FC236}">
                <a16:creationId xmlns:a16="http://schemas.microsoft.com/office/drawing/2014/main" id="{BF525E4D-7FEE-C7ED-1AFE-2B8CE5F67606}"/>
              </a:ext>
            </a:extLst>
          </p:cNvPr>
          <p:cNvPicPr>
            <a:picLocks noChangeAspect="1"/>
          </p:cNvPicPr>
          <p:nvPr/>
        </p:nvPicPr>
        <p:blipFill>
          <a:blip r:embed="rId2"/>
          <a:stretch>
            <a:fillRect/>
          </a:stretch>
        </p:blipFill>
        <p:spPr>
          <a:xfrm>
            <a:off x="916517" y="1343554"/>
            <a:ext cx="5181600" cy="1590675"/>
          </a:xfrm>
          <a:prstGeom prst="rect">
            <a:avLst/>
          </a:prstGeom>
          <a:ln>
            <a:solidFill>
              <a:srgbClr val="FF0000"/>
            </a:solidFill>
          </a:ln>
        </p:spPr>
      </p:pic>
      <p:sp>
        <p:nvSpPr>
          <p:cNvPr id="9" name="TextBox 8">
            <a:extLst>
              <a:ext uri="{FF2B5EF4-FFF2-40B4-BE49-F238E27FC236}">
                <a16:creationId xmlns:a16="http://schemas.microsoft.com/office/drawing/2014/main" id="{C0E9C117-16A0-8065-21A6-89CA7905951E}"/>
              </a:ext>
            </a:extLst>
          </p:cNvPr>
          <p:cNvSpPr txBox="1"/>
          <p:nvPr/>
        </p:nvSpPr>
        <p:spPr>
          <a:xfrm>
            <a:off x="914400" y="3095625"/>
            <a:ext cx="5181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FF0000"/>
                </a:solidFill>
                <a:ea typeface="+mn-lt"/>
                <a:cs typeface="+mn-lt"/>
              </a:rPr>
              <a:t>This table shows total sales for each product type across different market sizes. Sales vary by market size, </a:t>
            </a:r>
            <a:r>
              <a:rPr lang="en-US" sz="1200">
                <a:solidFill>
                  <a:srgbClr val="FF0000"/>
                </a:solidFill>
                <a:ea typeface="+mn-lt"/>
                <a:cs typeface="+mn-lt"/>
              </a:rPr>
              <a:t>showing</a:t>
            </a:r>
            <a:r>
              <a:rPr lang="en-US" sz="1200" dirty="0">
                <a:solidFill>
                  <a:srgbClr val="FF0000"/>
                </a:solidFill>
                <a:ea typeface="+mn-lt"/>
                <a:cs typeface="+mn-lt"/>
              </a:rPr>
              <a:t> that market size has an impact on product performance.</a:t>
            </a:r>
            <a:endParaRPr lang="en-US" sz="1200">
              <a:solidFill>
                <a:srgbClr val="FF0000"/>
              </a:solidFill>
              <a:ea typeface="Calibri"/>
              <a:cs typeface="Calibri"/>
            </a:endParaRPr>
          </a:p>
        </p:txBody>
      </p:sp>
      <p:pic>
        <p:nvPicPr>
          <p:cNvPr id="10" name="Picture 9" descr="A graph of sales and sales&#10;&#10;AI-generated content may be incorrect.">
            <a:extLst>
              <a:ext uri="{FF2B5EF4-FFF2-40B4-BE49-F238E27FC236}">
                <a16:creationId xmlns:a16="http://schemas.microsoft.com/office/drawing/2014/main" id="{EA0B5DCF-171C-F534-C111-522C967D8AAC}"/>
              </a:ext>
            </a:extLst>
          </p:cNvPr>
          <p:cNvPicPr>
            <a:picLocks noChangeAspect="1"/>
          </p:cNvPicPr>
          <p:nvPr/>
        </p:nvPicPr>
        <p:blipFill>
          <a:blip r:embed="rId3"/>
          <a:stretch>
            <a:fillRect/>
          </a:stretch>
        </p:blipFill>
        <p:spPr>
          <a:xfrm>
            <a:off x="6872606" y="1343025"/>
            <a:ext cx="2571113" cy="4800600"/>
          </a:xfrm>
          <a:prstGeom prst="rect">
            <a:avLst/>
          </a:prstGeom>
          <a:ln>
            <a:solidFill>
              <a:srgbClr val="FF0000"/>
            </a:solidFill>
          </a:ln>
        </p:spPr>
      </p:pic>
      <p:sp>
        <p:nvSpPr>
          <p:cNvPr id="12" name="TextBox 11">
            <a:extLst>
              <a:ext uri="{FF2B5EF4-FFF2-40B4-BE49-F238E27FC236}">
                <a16:creationId xmlns:a16="http://schemas.microsoft.com/office/drawing/2014/main" id="{0FFAEFA1-8B55-CF52-6642-32036EC06823}"/>
              </a:ext>
            </a:extLst>
          </p:cNvPr>
          <p:cNvSpPr txBox="1"/>
          <p:nvPr/>
        </p:nvSpPr>
        <p:spPr>
          <a:xfrm>
            <a:off x="914399" y="4362450"/>
            <a:ext cx="5181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FF0000"/>
                </a:solidFill>
                <a:ea typeface="+mn-lt"/>
                <a:cs typeface="+mn-lt"/>
              </a:rPr>
              <a:t>I used a clustered bar chart because it clearly compares sales across categories.</a:t>
            </a:r>
            <a:endParaRPr lang="en-US" sz="1200">
              <a:solidFill>
                <a:srgbClr val="FF0000"/>
              </a:solidFill>
              <a:ea typeface="Calibri"/>
              <a:cs typeface="Calibri"/>
            </a:endParaRPr>
          </a:p>
          <a:p>
            <a:r>
              <a:rPr lang="en-US" sz="1200">
                <a:solidFill>
                  <a:srgbClr val="FF0000"/>
                </a:solidFill>
                <a:ea typeface="+mn-lt"/>
                <a:cs typeface="+mn-lt"/>
              </a:rPr>
              <a:t>The chart shows that sales differ significantly between small and major markets.</a:t>
            </a:r>
            <a:endParaRPr lang="en-US" sz="1200">
              <a:solidFill>
                <a:srgbClr val="FF0000"/>
              </a:solidFill>
              <a:ea typeface="Calibri"/>
              <a:cs typeface="Calibri"/>
            </a:endParaRPr>
          </a:p>
          <a:p>
            <a:r>
              <a:rPr lang="en-US" sz="1200" dirty="0">
                <a:solidFill>
                  <a:srgbClr val="FF0000"/>
                </a:solidFill>
                <a:ea typeface="+mn-lt"/>
                <a:cs typeface="+mn-lt"/>
              </a:rPr>
              <a:t>Major markets </a:t>
            </a:r>
            <a:r>
              <a:rPr lang="en-US" sz="1200">
                <a:solidFill>
                  <a:srgbClr val="FF0000"/>
                </a:solidFill>
                <a:ea typeface="+mn-lt"/>
                <a:cs typeface="+mn-lt"/>
              </a:rPr>
              <a:t>generate</a:t>
            </a:r>
            <a:r>
              <a:rPr lang="en-US" sz="1200" dirty="0">
                <a:solidFill>
                  <a:srgbClr val="FF0000"/>
                </a:solidFill>
                <a:ea typeface="+mn-lt"/>
                <a:cs typeface="+mn-lt"/>
              </a:rPr>
              <a:t> higher sales due to larger customer bases.</a:t>
            </a:r>
            <a:endParaRPr lang="en-US" sz="1200">
              <a:solidFill>
                <a:srgbClr val="FF0000"/>
              </a:solidFill>
              <a:ea typeface="Calibri"/>
              <a:cs typeface="Calibri"/>
            </a:endParaRPr>
          </a:p>
        </p:txBody>
      </p:sp>
      <p:pic>
        <p:nvPicPr>
          <p:cNvPr id="13" name="Picture 12" descr="A close up of words&#10;&#10;AI-generated content may be incorrect.">
            <a:extLst>
              <a:ext uri="{FF2B5EF4-FFF2-40B4-BE49-F238E27FC236}">
                <a16:creationId xmlns:a16="http://schemas.microsoft.com/office/drawing/2014/main" id="{B8FB43D3-1616-483F-338A-18CBD37F5891}"/>
              </a:ext>
            </a:extLst>
          </p:cNvPr>
          <p:cNvPicPr>
            <a:picLocks noChangeAspect="1"/>
          </p:cNvPicPr>
          <p:nvPr/>
        </p:nvPicPr>
        <p:blipFill>
          <a:blip r:embed="rId4"/>
          <a:stretch>
            <a:fillRect/>
          </a:stretch>
        </p:blipFill>
        <p:spPr>
          <a:xfrm>
            <a:off x="9553575" y="1338263"/>
            <a:ext cx="1447800" cy="638175"/>
          </a:xfrm>
          <a:prstGeom prst="rect">
            <a:avLst/>
          </a:prstGeom>
          <a:ln>
            <a:solidFill>
              <a:srgbClr val="FF0000"/>
            </a:solidFill>
          </a:ln>
        </p:spPr>
      </p:pic>
    </p:spTree>
    <p:extLst>
      <p:ext uri="{BB962C8B-B14F-4D97-AF65-F5344CB8AC3E}">
        <p14:creationId xmlns:p14="http://schemas.microsoft.com/office/powerpoint/2010/main" val="3775334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77D88-E798-C5D9-6EB4-AADA992BA622}"/>
              </a:ext>
            </a:extLst>
          </p:cNvPr>
          <p:cNvSpPr>
            <a:spLocks noGrp="1"/>
          </p:cNvSpPr>
          <p:nvPr>
            <p:ph type="title"/>
          </p:nvPr>
        </p:nvSpPr>
        <p:spPr>
          <a:xfrm>
            <a:off x="-1954" y="3663"/>
            <a:ext cx="10515600" cy="1325563"/>
          </a:xfrm>
        </p:spPr>
        <p:txBody>
          <a:bodyPr>
            <a:normAutofit/>
          </a:bodyPr>
          <a:lstStyle/>
          <a:p>
            <a:r>
              <a:rPr lang="en-US" sz="2000" b="1">
                <a:ea typeface="+mj-lt"/>
                <a:cs typeface="+mj-lt"/>
              </a:rPr>
              <a:t>Q2.) Which product types are doing better in small markets vs. large markets? Why do you think this is the case? </a:t>
            </a:r>
            <a:endParaRPr lang="en-US" sz="2000" b="1">
              <a:ea typeface="Calibri Light"/>
              <a:cs typeface="Calibri Light"/>
            </a:endParaRPr>
          </a:p>
        </p:txBody>
      </p:sp>
      <p:sp>
        <p:nvSpPr>
          <p:cNvPr id="4" name="Date Placeholder 3">
            <a:extLst>
              <a:ext uri="{FF2B5EF4-FFF2-40B4-BE49-F238E27FC236}">
                <a16:creationId xmlns:a16="http://schemas.microsoft.com/office/drawing/2014/main" id="{CD18FA1D-9482-B60D-BAC4-828E41DE66CB}"/>
              </a:ext>
            </a:extLst>
          </p:cNvPr>
          <p:cNvSpPr>
            <a:spLocks noGrp="1"/>
          </p:cNvSpPr>
          <p:nvPr>
            <p:ph type="dt" sz="half" idx="10"/>
          </p:nvPr>
        </p:nvSpPr>
        <p:spPr/>
        <p:txBody>
          <a:bodyPr/>
          <a:lstStyle/>
          <a:p>
            <a:r>
              <a:rPr lang="en-US"/>
              <a:t>© Professor Vishnu Pamula</a:t>
            </a:r>
            <a:endParaRPr lang="en-US" dirty="0"/>
          </a:p>
        </p:txBody>
      </p:sp>
      <p:sp>
        <p:nvSpPr>
          <p:cNvPr id="5" name="Footer Placeholder 4">
            <a:extLst>
              <a:ext uri="{FF2B5EF4-FFF2-40B4-BE49-F238E27FC236}">
                <a16:creationId xmlns:a16="http://schemas.microsoft.com/office/drawing/2014/main" id="{DD221456-A9ED-02F0-3395-66AE31E0E92B}"/>
              </a:ext>
            </a:extLst>
          </p:cNvPr>
          <p:cNvSpPr>
            <a:spLocks noGrp="1"/>
          </p:cNvSpPr>
          <p:nvPr>
            <p:ph type="ftr" sz="quarter" idx="11"/>
          </p:nvPr>
        </p:nvSpPr>
        <p:spPr/>
        <p:txBody>
          <a:body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FAC4F7F0-0F32-B284-0126-24B832F57E6C}"/>
              </a:ext>
            </a:extLst>
          </p:cNvPr>
          <p:cNvSpPr>
            <a:spLocks noGrp="1"/>
          </p:cNvSpPr>
          <p:nvPr>
            <p:ph type="sldNum" sz="quarter" idx="12"/>
          </p:nvPr>
        </p:nvSpPr>
        <p:spPr/>
        <p:txBody>
          <a:bodyPr/>
          <a:lstStyle/>
          <a:p>
            <a:fld id="{6BB18165-63BA-465A-B0E3-50AEDDBFA692}" type="slidenum">
              <a:rPr lang="en-US" smtClean="0"/>
              <a:t>3</a:t>
            </a:fld>
            <a:endParaRPr lang="en-US"/>
          </a:p>
        </p:txBody>
      </p:sp>
      <p:sp>
        <p:nvSpPr>
          <p:cNvPr id="7" name="TextBox 6">
            <a:extLst>
              <a:ext uri="{FF2B5EF4-FFF2-40B4-BE49-F238E27FC236}">
                <a16:creationId xmlns:a16="http://schemas.microsoft.com/office/drawing/2014/main" id="{1ADF3D43-2E56-17D8-5F4D-F5A9C5156251}"/>
              </a:ext>
            </a:extLst>
          </p:cNvPr>
          <p:cNvSpPr txBox="1"/>
          <p:nvPr/>
        </p:nvSpPr>
        <p:spPr>
          <a:xfrm>
            <a:off x="1218955" y="1338629"/>
            <a:ext cx="542338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FF0000"/>
                </a:solidFill>
                <a:ea typeface="+mn-lt"/>
                <a:cs typeface="+mn-lt"/>
              </a:rPr>
              <a:t>The bar chart shows the total sales for each product type for small and major markets. Coffee sales (127,997) and Espresso (133,065) are much higher for major markets than for small markets. On the other hand, Herbal Tea (113,695) and Tea (102,213) are higher for small markets than for major markets.</a:t>
            </a:r>
            <a:endParaRPr lang="en-US"/>
          </a:p>
          <a:p>
            <a:endParaRPr lang="en-US" sz="1200" dirty="0">
              <a:solidFill>
                <a:srgbClr val="FF0000"/>
              </a:solidFill>
              <a:ea typeface="+mn-lt"/>
              <a:cs typeface="+mn-lt"/>
            </a:endParaRPr>
          </a:p>
          <a:p>
            <a:r>
              <a:rPr lang="en-US" sz="1200">
                <a:solidFill>
                  <a:srgbClr val="FF0000"/>
                </a:solidFill>
                <a:ea typeface="+mn-lt"/>
                <a:cs typeface="+mn-lt"/>
              </a:rPr>
              <a:t>This shows that customers in major markets prefer stronger coffee-based beverages. This may be due to the lifestyle of the people living in urban areas and their requirement for specialty coffee. On the other hand, customers in small markets prefer tea-based beverages.</a:t>
            </a:r>
            <a:endParaRPr lang="en-US"/>
          </a:p>
        </p:txBody>
      </p:sp>
      <p:pic>
        <p:nvPicPr>
          <p:cNvPr id="9" name="Picture 8" descr="A graph of sales and sales&#10;&#10;AI-generated content may be incorrect.">
            <a:extLst>
              <a:ext uri="{FF2B5EF4-FFF2-40B4-BE49-F238E27FC236}">
                <a16:creationId xmlns:a16="http://schemas.microsoft.com/office/drawing/2014/main" id="{9BCE3DF5-532D-8961-57D3-9F387EE1B7D2}"/>
              </a:ext>
            </a:extLst>
          </p:cNvPr>
          <p:cNvPicPr>
            <a:picLocks noChangeAspect="1"/>
          </p:cNvPicPr>
          <p:nvPr/>
        </p:nvPicPr>
        <p:blipFill>
          <a:blip r:embed="rId2"/>
          <a:stretch>
            <a:fillRect/>
          </a:stretch>
        </p:blipFill>
        <p:spPr>
          <a:xfrm>
            <a:off x="6872606" y="1343025"/>
            <a:ext cx="2587496" cy="4829175"/>
          </a:xfrm>
          <a:prstGeom prst="rect">
            <a:avLst/>
          </a:prstGeom>
          <a:ln>
            <a:solidFill>
              <a:srgbClr val="FF0000"/>
            </a:solidFill>
          </a:ln>
        </p:spPr>
      </p:pic>
      <p:pic>
        <p:nvPicPr>
          <p:cNvPr id="11" name="Picture 10" descr="A close up of words&#10;&#10;AI-generated content may be incorrect.">
            <a:extLst>
              <a:ext uri="{FF2B5EF4-FFF2-40B4-BE49-F238E27FC236}">
                <a16:creationId xmlns:a16="http://schemas.microsoft.com/office/drawing/2014/main" id="{D279B20E-92AC-CF2D-C2F7-148BA8CB2781}"/>
              </a:ext>
            </a:extLst>
          </p:cNvPr>
          <p:cNvPicPr>
            <a:picLocks noChangeAspect="1"/>
          </p:cNvPicPr>
          <p:nvPr/>
        </p:nvPicPr>
        <p:blipFill>
          <a:blip r:embed="rId3"/>
          <a:stretch>
            <a:fillRect/>
          </a:stretch>
        </p:blipFill>
        <p:spPr>
          <a:xfrm>
            <a:off x="9553575" y="1338263"/>
            <a:ext cx="1447800" cy="638175"/>
          </a:xfrm>
          <a:prstGeom prst="rect">
            <a:avLst/>
          </a:prstGeom>
          <a:ln>
            <a:solidFill>
              <a:srgbClr val="FF0000"/>
            </a:solidFill>
          </a:ln>
        </p:spPr>
      </p:pic>
    </p:spTree>
    <p:extLst>
      <p:ext uri="{BB962C8B-B14F-4D97-AF65-F5344CB8AC3E}">
        <p14:creationId xmlns:p14="http://schemas.microsoft.com/office/powerpoint/2010/main" val="315491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0DCEC-33CF-76A0-71D4-4E43CE10FE65}"/>
              </a:ext>
            </a:extLst>
          </p:cNvPr>
          <p:cNvSpPr>
            <a:spLocks noGrp="1"/>
          </p:cNvSpPr>
          <p:nvPr>
            <p:ph type="title"/>
          </p:nvPr>
        </p:nvSpPr>
        <p:spPr>
          <a:xfrm>
            <a:off x="-1954" y="3663"/>
            <a:ext cx="10515600" cy="1325563"/>
          </a:xfrm>
        </p:spPr>
        <p:txBody>
          <a:bodyPr>
            <a:normAutofit/>
          </a:bodyPr>
          <a:lstStyle/>
          <a:p>
            <a:r>
              <a:rPr lang="en-US" sz="2000" b="1">
                <a:ea typeface="+mj-lt"/>
                <a:cs typeface="+mj-lt"/>
              </a:rPr>
              <a:t>Q3.) How are the total sales related to total profit by product type? Which product type has the highest profit vs. highest sales?</a:t>
            </a:r>
            <a:endParaRPr lang="en-US" sz="2000" b="1">
              <a:ea typeface="Calibri Light"/>
              <a:cs typeface="Calibri Light"/>
            </a:endParaRPr>
          </a:p>
        </p:txBody>
      </p:sp>
      <p:sp>
        <p:nvSpPr>
          <p:cNvPr id="4" name="Date Placeholder 3">
            <a:extLst>
              <a:ext uri="{FF2B5EF4-FFF2-40B4-BE49-F238E27FC236}">
                <a16:creationId xmlns:a16="http://schemas.microsoft.com/office/drawing/2014/main" id="{78FD891F-F2AB-2A17-048A-B8E4690D0E64}"/>
              </a:ext>
            </a:extLst>
          </p:cNvPr>
          <p:cNvSpPr>
            <a:spLocks noGrp="1"/>
          </p:cNvSpPr>
          <p:nvPr>
            <p:ph type="dt" sz="half" idx="10"/>
          </p:nvPr>
        </p:nvSpPr>
        <p:spPr/>
        <p:txBody>
          <a:bodyPr/>
          <a:lstStyle/>
          <a:p>
            <a:r>
              <a:rPr lang="en-US"/>
              <a:t>© Professor Vishnu Pamula</a:t>
            </a:r>
            <a:endParaRPr lang="en-US" dirty="0"/>
          </a:p>
        </p:txBody>
      </p:sp>
      <p:sp>
        <p:nvSpPr>
          <p:cNvPr id="5" name="Footer Placeholder 4">
            <a:extLst>
              <a:ext uri="{FF2B5EF4-FFF2-40B4-BE49-F238E27FC236}">
                <a16:creationId xmlns:a16="http://schemas.microsoft.com/office/drawing/2014/main" id="{1E265224-5507-34A6-462D-30D1452DEC45}"/>
              </a:ext>
            </a:extLst>
          </p:cNvPr>
          <p:cNvSpPr>
            <a:spLocks noGrp="1"/>
          </p:cNvSpPr>
          <p:nvPr>
            <p:ph type="ftr" sz="quarter" idx="11"/>
          </p:nvPr>
        </p:nvSpPr>
        <p:spPr/>
        <p:txBody>
          <a:body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CA376DCC-D5C1-677F-2783-35BBAC2D2E33}"/>
              </a:ext>
            </a:extLst>
          </p:cNvPr>
          <p:cNvSpPr>
            <a:spLocks noGrp="1"/>
          </p:cNvSpPr>
          <p:nvPr>
            <p:ph type="sldNum" sz="quarter" idx="12"/>
          </p:nvPr>
        </p:nvSpPr>
        <p:spPr/>
        <p:txBody>
          <a:bodyPr/>
          <a:lstStyle/>
          <a:p>
            <a:fld id="{6BB18165-63BA-465A-B0E3-50AEDDBFA692}" type="slidenum">
              <a:rPr lang="en-US" smtClean="0"/>
              <a:t>4</a:t>
            </a:fld>
            <a:endParaRPr lang="en-US"/>
          </a:p>
        </p:txBody>
      </p:sp>
      <p:pic>
        <p:nvPicPr>
          <p:cNvPr id="7" name="Picture 6" descr="A graph with numbers and dots&#10;&#10;AI-generated content may be incorrect.">
            <a:extLst>
              <a:ext uri="{FF2B5EF4-FFF2-40B4-BE49-F238E27FC236}">
                <a16:creationId xmlns:a16="http://schemas.microsoft.com/office/drawing/2014/main" id="{B0C32F78-3AE4-901C-2DDA-783969BD78C4}"/>
              </a:ext>
            </a:extLst>
          </p:cNvPr>
          <p:cNvPicPr>
            <a:picLocks noChangeAspect="1"/>
          </p:cNvPicPr>
          <p:nvPr/>
        </p:nvPicPr>
        <p:blipFill>
          <a:blip r:embed="rId2"/>
          <a:stretch>
            <a:fillRect/>
          </a:stretch>
        </p:blipFill>
        <p:spPr>
          <a:xfrm>
            <a:off x="5621940" y="857250"/>
            <a:ext cx="5053395" cy="5143500"/>
          </a:xfrm>
          <a:prstGeom prst="rect">
            <a:avLst/>
          </a:prstGeom>
          <a:ln>
            <a:solidFill>
              <a:srgbClr val="FF0000"/>
            </a:solidFill>
          </a:ln>
        </p:spPr>
      </p:pic>
      <p:sp>
        <p:nvSpPr>
          <p:cNvPr id="8" name="TextBox 7">
            <a:extLst>
              <a:ext uri="{FF2B5EF4-FFF2-40B4-BE49-F238E27FC236}">
                <a16:creationId xmlns:a16="http://schemas.microsoft.com/office/drawing/2014/main" id="{846DDB14-80D2-2AB9-7A9C-9EFEADCB28CD}"/>
              </a:ext>
            </a:extLst>
          </p:cNvPr>
          <p:cNvSpPr txBox="1"/>
          <p:nvPr/>
        </p:nvSpPr>
        <p:spPr>
          <a:xfrm>
            <a:off x="304800" y="1209675"/>
            <a:ext cx="49530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FF0000"/>
                </a:solidFill>
                <a:ea typeface="+mn-lt"/>
                <a:cs typeface="+mn-lt"/>
              </a:rPr>
              <a:t>The above figure is a scatter plot that shows a comparison of total sales and total profit in relation to product types. The product type that has the highest sales is Espresso, with a sales figure of 222,996. The product type that has the highest profit is Coffee, with a profit figure of 74,683.</a:t>
            </a:r>
            <a:endParaRPr lang="en-US" sz="1200" dirty="0">
              <a:solidFill>
                <a:srgbClr val="FF0000"/>
              </a:solidFill>
              <a:ea typeface="Calibri"/>
              <a:cs typeface="Calibri"/>
            </a:endParaRPr>
          </a:p>
          <a:p>
            <a:endParaRPr lang="en-US" sz="1200" dirty="0">
              <a:solidFill>
                <a:srgbClr val="FF0000"/>
              </a:solidFill>
              <a:ea typeface="Calibri"/>
              <a:cs typeface="Calibri"/>
            </a:endParaRPr>
          </a:p>
          <a:p>
            <a:r>
              <a:rPr lang="en-US" sz="1200">
                <a:solidFill>
                  <a:srgbClr val="FF0000"/>
                </a:solidFill>
                <a:ea typeface="+mn-lt"/>
                <a:cs typeface="+mn-lt"/>
              </a:rPr>
              <a:t>This shows that although a product type may have the highest sales, its profit may not necessarily be the highest. For example, although Espresso has the highest sales, Coffee has a higher profit margin.</a:t>
            </a:r>
            <a:endParaRPr lang="en-US" sz="1200" dirty="0">
              <a:solidFill>
                <a:srgbClr val="FF0000"/>
              </a:solidFill>
              <a:ea typeface="Calibri"/>
              <a:cs typeface="Calibri"/>
            </a:endParaRPr>
          </a:p>
        </p:txBody>
      </p:sp>
    </p:spTree>
    <p:extLst>
      <p:ext uri="{BB962C8B-B14F-4D97-AF65-F5344CB8AC3E}">
        <p14:creationId xmlns:p14="http://schemas.microsoft.com/office/powerpoint/2010/main" val="4027035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94724-39E9-4302-1D65-FAF03A68805A}"/>
              </a:ext>
            </a:extLst>
          </p:cNvPr>
          <p:cNvSpPr>
            <a:spLocks noGrp="1"/>
          </p:cNvSpPr>
          <p:nvPr>
            <p:ph type="title"/>
          </p:nvPr>
        </p:nvSpPr>
        <p:spPr>
          <a:xfrm>
            <a:off x="-1954" y="3663"/>
            <a:ext cx="10515600" cy="1325563"/>
          </a:xfrm>
        </p:spPr>
        <p:txBody>
          <a:bodyPr>
            <a:normAutofit/>
          </a:bodyPr>
          <a:lstStyle/>
          <a:p>
            <a:r>
              <a:rPr lang="en-US" sz="2000" b="1">
                <a:ea typeface="+mj-lt"/>
                <a:cs typeface="+mj-lt"/>
              </a:rPr>
              <a:t>Q4.) You are interested in finding out more about business in California. Show the profit margin and profit by Product and Product type. In which product/type the company is losing money in</a:t>
            </a:r>
            <a:endParaRPr lang="en-US" sz="2000" b="1">
              <a:ea typeface="Calibri Light"/>
              <a:cs typeface="Calibri Light"/>
            </a:endParaRPr>
          </a:p>
          <a:p>
            <a:r>
              <a:rPr lang="en-US" sz="2000" b="1">
                <a:ea typeface="+mj-lt"/>
                <a:cs typeface="+mj-lt"/>
              </a:rPr>
              <a:t>California? </a:t>
            </a:r>
            <a:endParaRPr lang="en-US" sz="2000" b="1">
              <a:ea typeface="Calibri Light"/>
              <a:cs typeface="Calibri Light"/>
            </a:endParaRPr>
          </a:p>
        </p:txBody>
      </p:sp>
      <p:sp>
        <p:nvSpPr>
          <p:cNvPr id="4" name="Date Placeholder 3">
            <a:extLst>
              <a:ext uri="{FF2B5EF4-FFF2-40B4-BE49-F238E27FC236}">
                <a16:creationId xmlns:a16="http://schemas.microsoft.com/office/drawing/2014/main" id="{FB06E207-C613-25F4-A50F-9DC59F9E066F}"/>
              </a:ext>
            </a:extLst>
          </p:cNvPr>
          <p:cNvSpPr>
            <a:spLocks noGrp="1"/>
          </p:cNvSpPr>
          <p:nvPr>
            <p:ph type="dt" sz="half" idx="10"/>
          </p:nvPr>
        </p:nvSpPr>
        <p:spPr/>
        <p:txBody>
          <a:bodyPr/>
          <a:lstStyle/>
          <a:p>
            <a:r>
              <a:rPr lang="en-US"/>
              <a:t>© Professor Vishnu Pamula</a:t>
            </a:r>
            <a:endParaRPr lang="en-US" dirty="0"/>
          </a:p>
        </p:txBody>
      </p:sp>
      <p:sp>
        <p:nvSpPr>
          <p:cNvPr id="5" name="Footer Placeholder 4">
            <a:extLst>
              <a:ext uri="{FF2B5EF4-FFF2-40B4-BE49-F238E27FC236}">
                <a16:creationId xmlns:a16="http://schemas.microsoft.com/office/drawing/2014/main" id="{A1A37E0A-E9AE-C473-49BF-8FAC817F9CC4}"/>
              </a:ext>
            </a:extLst>
          </p:cNvPr>
          <p:cNvSpPr>
            <a:spLocks noGrp="1"/>
          </p:cNvSpPr>
          <p:nvPr>
            <p:ph type="ftr" sz="quarter" idx="11"/>
          </p:nvPr>
        </p:nvSpPr>
        <p:spPr/>
        <p:txBody>
          <a:body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556AA8A9-8B2E-05C1-6DC3-30659A3CAE4E}"/>
              </a:ext>
            </a:extLst>
          </p:cNvPr>
          <p:cNvSpPr>
            <a:spLocks noGrp="1"/>
          </p:cNvSpPr>
          <p:nvPr>
            <p:ph type="sldNum" sz="quarter" idx="12"/>
          </p:nvPr>
        </p:nvSpPr>
        <p:spPr/>
        <p:txBody>
          <a:bodyPr/>
          <a:lstStyle/>
          <a:p>
            <a:fld id="{6BB18165-63BA-465A-B0E3-50AEDDBFA692}" type="slidenum">
              <a:rPr lang="en-US" smtClean="0"/>
              <a:t>5</a:t>
            </a:fld>
            <a:endParaRPr lang="en-US"/>
          </a:p>
        </p:txBody>
      </p:sp>
      <p:pic>
        <p:nvPicPr>
          <p:cNvPr id="7" name="Picture 6" descr="A graph with a bar chart&#10;&#10;AI-generated content may be incorrect.">
            <a:extLst>
              <a:ext uri="{FF2B5EF4-FFF2-40B4-BE49-F238E27FC236}">
                <a16:creationId xmlns:a16="http://schemas.microsoft.com/office/drawing/2014/main" id="{9F1E2257-94EB-4237-083E-3B66C295B71E}"/>
              </a:ext>
            </a:extLst>
          </p:cNvPr>
          <p:cNvPicPr>
            <a:picLocks noChangeAspect="1"/>
          </p:cNvPicPr>
          <p:nvPr/>
        </p:nvPicPr>
        <p:blipFill>
          <a:blip r:embed="rId2"/>
          <a:stretch>
            <a:fillRect/>
          </a:stretch>
        </p:blipFill>
        <p:spPr>
          <a:xfrm>
            <a:off x="161925" y="1336028"/>
            <a:ext cx="11877675" cy="2519069"/>
          </a:xfrm>
          <a:prstGeom prst="rect">
            <a:avLst/>
          </a:prstGeom>
          <a:ln>
            <a:solidFill>
              <a:srgbClr val="FF0000"/>
            </a:solidFill>
          </a:ln>
        </p:spPr>
      </p:pic>
      <p:sp>
        <p:nvSpPr>
          <p:cNvPr id="8" name="TextBox 7">
            <a:extLst>
              <a:ext uri="{FF2B5EF4-FFF2-40B4-BE49-F238E27FC236}">
                <a16:creationId xmlns:a16="http://schemas.microsoft.com/office/drawing/2014/main" id="{02F4370D-09AE-71CB-9F4A-0242C7825F28}"/>
              </a:ext>
            </a:extLst>
          </p:cNvPr>
          <p:cNvSpPr txBox="1"/>
          <p:nvPr/>
        </p:nvSpPr>
        <p:spPr>
          <a:xfrm>
            <a:off x="1672021" y="4269718"/>
            <a:ext cx="8856717" cy="138499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rgbClr val="FF0000"/>
                </a:solidFill>
                <a:ea typeface="+mn-lt"/>
                <a:cs typeface="+mn-lt"/>
              </a:rPr>
              <a:t>This analysis focuses on profit and profit margin for products and types of products in California. Most products make positive profit and have healthy margins in California. </a:t>
            </a:r>
            <a:endParaRPr lang="en-US"/>
          </a:p>
          <a:p>
            <a:endParaRPr lang="en-US" sz="1200" dirty="0">
              <a:solidFill>
                <a:srgbClr val="FF0000"/>
              </a:solidFill>
              <a:ea typeface="Calibri"/>
              <a:cs typeface="Calibri"/>
            </a:endParaRPr>
          </a:p>
          <a:p>
            <a:r>
              <a:rPr lang="en-US" sz="1200" dirty="0">
                <a:solidFill>
                  <a:srgbClr val="FF0000"/>
                </a:solidFill>
                <a:ea typeface="+mn-lt"/>
                <a:cs typeface="+mn-lt"/>
              </a:rPr>
              <a:t>However, Decaf Irish Cream (Coffee) is making negative profit in California, with a significantly negative profit margin. This </a:t>
            </a:r>
            <a:r>
              <a:rPr lang="en-US" sz="1200">
                <a:solidFill>
                  <a:srgbClr val="FF0000"/>
                </a:solidFill>
                <a:ea typeface="+mn-lt"/>
                <a:cs typeface="+mn-lt"/>
              </a:rPr>
              <a:t>shows</a:t>
            </a:r>
            <a:r>
              <a:rPr lang="en-US" sz="1200" dirty="0">
                <a:solidFill>
                  <a:srgbClr val="FF0000"/>
                </a:solidFill>
                <a:ea typeface="+mn-lt"/>
                <a:cs typeface="+mn-lt"/>
              </a:rPr>
              <a:t> that the </a:t>
            </a:r>
            <a:r>
              <a:rPr lang="en-US" sz="1200">
                <a:solidFill>
                  <a:srgbClr val="FF0000"/>
                </a:solidFill>
                <a:ea typeface="+mn-lt"/>
                <a:cs typeface="+mn-lt"/>
              </a:rPr>
              <a:t>product could be priced too low, with high production costs or low demand in this market. </a:t>
            </a:r>
            <a:endParaRPr lang="en-US"/>
          </a:p>
          <a:p>
            <a:endParaRPr lang="en-US" sz="1200" dirty="0">
              <a:solidFill>
                <a:srgbClr val="FF0000"/>
              </a:solidFill>
              <a:ea typeface="+mn-lt"/>
              <a:cs typeface="+mn-lt"/>
            </a:endParaRPr>
          </a:p>
          <a:p>
            <a:r>
              <a:rPr lang="en-US" sz="1200" dirty="0">
                <a:solidFill>
                  <a:srgbClr val="FF0000"/>
                </a:solidFill>
                <a:ea typeface="+mn-lt"/>
                <a:cs typeface="+mn-lt"/>
              </a:rPr>
              <a:t>The company should conduct further analysis on cost structure, pricing, or demand for this </a:t>
            </a:r>
            <a:r>
              <a:rPr lang="en-US" sz="1200">
                <a:solidFill>
                  <a:srgbClr val="FF0000"/>
                </a:solidFill>
                <a:ea typeface="+mn-lt"/>
                <a:cs typeface="+mn-lt"/>
              </a:rPr>
              <a:t>product</a:t>
            </a:r>
            <a:r>
              <a:rPr lang="en-US" sz="1200" dirty="0">
                <a:solidFill>
                  <a:srgbClr val="FF0000"/>
                </a:solidFill>
                <a:ea typeface="+mn-lt"/>
                <a:cs typeface="+mn-lt"/>
              </a:rPr>
              <a:t> in California. </a:t>
            </a:r>
            <a:endParaRPr lang="en-US" dirty="0"/>
          </a:p>
        </p:txBody>
      </p:sp>
    </p:spTree>
    <p:extLst>
      <p:ext uri="{BB962C8B-B14F-4D97-AF65-F5344CB8AC3E}">
        <p14:creationId xmlns:p14="http://schemas.microsoft.com/office/powerpoint/2010/main" val="1611720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400BF-E53C-E6BB-174A-C9DE3A6BCD24}"/>
              </a:ext>
            </a:extLst>
          </p:cNvPr>
          <p:cNvSpPr>
            <a:spLocks noGrp="1"/>
          </p:cNvSpPr>
          <p:nvPr>
            <p:ph type="title"/>
          </p:nvPr>
        </p:nvSpPr>
        <p:spPr>
          <a:xfrm>
            <a:off x="-1954" y="3663"/>
            <a:ext cx="10515600" cy="1325563"/>
          </a:xfrm>
        </p:spPr>
        <p:txBody>
          <a:bodyPr>
            <a:normAutofit/>
          </a:bodyPr>
          <a:lstStyle/>
          <a:p>
            <a:r>
              <a:rPr lang="en-US" sz="2000" b="1">
                <a:ea typeface="+mj-lt"/>
                <a:cs typeface="+mj-lt"/>
              </a:rPr>
              <a:t>Q5.) Which Products are not available in decaf in California? Which products are only available in decaf (“Type” is the dimension for decaf and regular) </a:t>
            </a:r>
          </a:p>
        </p:txBody>
      </p:sp>
      <p:sp>
        <p:nvSpPr>
          <p:cNvPr id="4" name="Date Placeholder 3">
            <a:extLst>
              <a:ext uri="{FF2B5EF4-FFF2-40B4-BE49-F238E27FC236}">
                <a16:creationId xmlns:a16="http://schemas.microsoft.com/office/drawing/2014/main" id="{ED94EDD7-3AA1-0C00-FA67-EAD8155CD6A6}"/>
              </a:ext>
            </a:extLst>
          </p:cNvPr>
          <p:cNvSpPr>
            <a:spLocks noGrp="1"/>
          </p:cNvSpPr>
          <p:nvPr>
            <p:ph type="dt" sz="half" idx="10"/>
          </p:nvPr>
        </p:nvSpPr>
        <p:spPr/>
        <p:txBody>
          <a:bodyPr/>
          <a:lstStyle/>
          <a:p>
            <a:r>
              <a:rPr lang="en-US"/>
              <a:t>© Professor Vishnu Pamula</a:t>
            </a:r>
            <a:endParaRPr lang="en-US" dirty="0"/>
          </a:p>
        </p:txBody>
      </p:sp>
      <p:sp>
        <p:nvSpPr>
          <p:cNvPr id="5" name="Footer Placeholder 4">
            <a:extLst>
              <a:ext uri="{FF2B5EF4-FFF2-40B4-BE49-F238E27FC236}">
                <a16:creationId xmlns:a16="http://schemas.microsoft.com/office/drawing/2014/main" id="{19C71EC5-4850-52AA-33D2-7E83F79A812E}"/>
              </a:ext>
            </a:extLst>
          </p:cNvPr>
          <p:cNvSpPr>
            <a:spLocks noGrp="1"/>
          </p:cNvSpPr>
          <p:nvPr>
            <p:ph type="ftr" sz="quarter" idx="11"/>
          </p:nvPr>
        </p:nvSpPr>
        <p:spPr/>
        <p:txBody>
          <a:body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8E658D00-8AE6-91E1-632C-90B510F7ADE6}"/>
              </a:ext>
            </a:extLst>
          </p:cNvPr>
          <p:cNvSpPr>
            <a:spLocks noGrp="1"/>
          </p:cNvSpPr>
          <p:nvPr>
            <p:ph type="sldNum" sz="quarter" idx="12"/>
          </p:nvPr>
        </p:nvSpPr>
        <p:spPr/>
        <p:txBody>
          <a:bodyPr/>
          <a:lstStyle/>
          <a:p>
            <a:fld id="{6BB18165-63BA-465A-B0E3-50AEDDBFA692}" type="slidenum">
              <a:rPr lang="en-US" smtClean="0"/>
              <a:t>6</a:t>
            </a:fld>
            <a:endParaRPr lang="en-US"/>
          </a:p>
        </p:txBody>
      </p:sp>
      <p:pic>
        <p:nvPicPr>
          <p:cNvPr id="7" name="Picture 6" descr="A screenshot of a computer&#10;&#10;AI-generated content may be incorrect.">
            <a:extLst>
              <a:ext uri="{FF2B5EF4-FFF2-40B4-BE49-F238E27FC236}">
                <a16:creationId xmlns:a16="http://schemas.microsoft.com/office/drawing/2014/main" id="{8BB00FA3-CC43-20BA-D6D7-09160FAEE4EA}"/>
              </a:ext>
            </a:extLst>
          </p:cNvPr>
          <p:cNvPicPr>
            <a:picLocks noChangeAspect="1"/>
          </p:cNvPicPr>
          <p:nvPr/>
        </p:nvPicPr>
        <p:blipFill>
          <a:blip r:embed="rId2"/>
          <a:stretch>
            <a:fillRect/>
          </a:stretch>
        </p:blipFill>
        <p:spPr>
          <a:xfrm>
            <a:off x="4034326" y="1334355"/>
            <a:ext cx="7972425" cy="3114675"/>
          </a:xfrm>
          <a:prstGeom prst="rect">
            <a:avLst/>
          </a:prstGeom>
          <a:ln>
            <a:solidFill>
              <a:srgbClr val="FF0000"/>
            </a:solidFill>
          </a:ln>
        </p:spPr>
      </p:pic>
      <p:sp>
        <p:nvSpPr>
          <p:cNvPr id="8" name="TextBox 7">
            <a:extLst>
              <a:ext uri="{FF2B5EF4-FFF2-40B4-BE49-F238E27FC236}">
                <a16:creationId xmlns:a16="http://schemas.microsoft.com/office/drawing/2014/main" id="{19430C48-8603-F995-0250-BA1B6F9FC8AD}"/>
              </a:ext>
            </a:extLst>
          </p:cNvPr>
          <p:cNvSpPr txBox="1"/>
          <p:nvPr/>
        </p:nvSpPr>
        <p:spPr>
          <a:xfrm>
            <a:off x="140677" y="1330812"/>
            <a:ext cx="3749429"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FF0000"/>
                </a:solidFill>
                <a:ea typeface="+mn-lt"/>
                <a:cs typeface="+mn-lt"/>
              </a:rPr>
              <a:t>The above table </a:t>
            </a:r>
            <a:r>
              <a:rPr lang="en-US" sz="1200">
                <a:solidFill>
                  <a:srgbClr val="FF0000"/>
                </a:solidFill>
                <a:ea typeface="+mn-lt"/>
                <a:cs typeface="+mn-lt"/>
              </a:rPr>
              <a:t>shows</a:t>
            </a:r>
            <a:r>
              <a:rPr lang="en-US" sz="1200" dirty="0">
                <a:solidFill>
                  <a:srgbClr val="FF0000"/>
                </a:solidFill>
                <a:ea typeface="+mn-lt"/>
                <a:cs typeface="+mn-lt"/>
              </a:rPr>
              <a:t> the availability of products based on type, i.e., Regular vs. Decaf.</a:t>
            </a:r>
            <a:endParaRPr lang="en-US" sz="1200" dirty="0">
              <a:solidFill>
                <a:srgbClr val="FF0000"/>
              </a:solidFill>
              <a:ea typeface="Calibri"/>
              <a:cs typeface="Calibri"/>
            </a:endParaRPr>
          </a:p>
          <a:p>
            <a:endParaRPr lang="en-US" sz="1200" dirty="0">
              <a:solidFill>
                <a:srgbClr val="FF0000"/>
              </a:solidFill>
              <a:ea typeface="Calibri"/>
              <a:cs typeface="Calibri"/>
            </a:endParaRPr>
          </a:p>
          <a:p>
            <a:r>
              <a:rPr lang="en-US" sz="1200">
                <a:solidFill>
                  <a:srgbClr val="FF0000"/>
                </a:solidFill>
                <a:ea typeface="+mn-lt"/>
                <a:cs typeface="+mn-lt"/>
              </a:rPr>
              <a:t>The products that are not available in decaf are Amaretto, Caffe Latte, Caffe Mocha, Columbian, Darjeeling, Earl Grey, and Green Tea.</a:t>
            </a:r>
            <a:endParaRPr lang="en-US" sz="1200" dirty="0">
              <a:solidFill>
                <a:srgbClr val="FF0000"/>
              </a:solidFill>
              <a:ea typeface="Calibri"/>
              <a:cs typeface="Calibri"/>
            </a:endParaRPr>
          </a:p>
          <a:p>
            <a:endParaRPr lang="en-US" sz="1200" dirty="0">
              <a:solidFill>
                <a:srgbClr val="FF0000"/>
              </a:solidFill>
              <a:ea typeface="Calibri"/>
              <a:cs typeface="Calibri"/>
            </a:endParaRPr>
          </a:p>
          <a:p>
            <a:r>
              <a:rPr lang="en-US" sz="1200">
                <a:solidFill>
                  <a:srgbClr val="FF0000"/>
                </a:solidFill>
                <a:ea typeface="+mn-lt"/>
                <a:cs typeface="+mn-lt"/>
              </a:rPr>
              <a:t>The products available in decaf are Chamomile, Decaf Espresso, Decaf Irish Cream, Lemon, and Mint.</a:t>
            </a:r>
            <a:endParaRPr lang="en-US" sz="1200" dirty="0">
              <a:solidFill>
                <a:srgbClr val="FF0000"/>
              </a:solidFill>
              <a:ea typeface="Calibri"/>
              <a:cs typeface="Calibri"/>
            </a:endParaRPr>
          </a:p>
          <a:p>
            <a:endParaRPr lang="en-US" sz="1200" dirty="0">
              <a:solidFill>
                <a:srgbClr val="FF0000"/>
              </a:solidFill>
              <a:ea typeface="Calibri"/>
              <a:cs typeface="Calibri"/>
            </a:endParaRPr>
          </a:p>
          <a:p>
            <a:r>
              <a:rPr lang="en-US" sz="1200" dirty="0">
                <a:solidFill>
                  <a:srgbClr val="FF0000"/>
                </a:solidFill>
                <a:ea typeface="+mn-lt"/>
                <a:cs typeface="+mn-lt"/>
              </a:rPr>
              <a:t>From the above information, it can be concluded that coffee-based products are available in regular flavor, </a:t>
            </a:r>
            <a:r>
              <a:rPr lang="en-US" sz="1200">
                <a:solidFill>
                  <a:srgbClr val="FF0000"/>
                </a:solidFill>
                <a:ea typeface="+mn-lt"/>
                <a:cs typeface="+mn-lt"/>
              </a:rPr>
              <a:t>while</a:t>
            </a:r>
            <a:r>
              <a:rPr lang="en-US" sz="1200" dirty="0">
                <a:solidFill>
                  <a:srgbClr val="FF0000"/>
                </a:solidFill>
                <a:ea typeface="+mn-lt"/>
                <a:cs typeface="+mn-lt"/>
              </a:rPr>
              <a:t> herbal-based products are available in decaf flavor.</a:t>
            </a:r>
            <a:endParaRPr lang="en-US" sz="1200" dirty="0">
              <a:solidFill>
                <a:srgbClr val="FF0000"/>
              </a:solidFill>
              <a:ea typeface="Calibri"/>
              <a:cs typeface="Calibri"/>
            </a:endParaRPr>
          </a:p>
        </p:txBody>
      </p:sp>
    </p:spTree>
    <p:extLst>
      <p:ext uri="{BB962C8B-B14F-4D97-AF65-F5344CB8AC3E}">
        <p14:creationId xmlns:p14="http://schemas.microsoft.com/office/powerpoint/2010/main" val="35429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5363-91E3-260D-ABF1-725B56EA0969}"/>
              </a:ext>
            </a:extLst>
          </p:cNvPr>
          <p:cNvSpPr>
            <a:spLocks noGrp="1"/>
          </p:cNvSpPr>
          <p:nvPr>
            <p:ph type="title"/>
          </p:nvPr>
        </p:nvSpPr>
        <p:spPr>
          <a:xfrm>
            <a:off x="0" y="3175"/>
            <a:ext cx="10515600" cy="1325563"/>
          </a:xfrm>
        </p:spPr>
        <p:txBody>
          <a:bodyPr anchor="ctr">
            <a:normAutofit/>
          </a:bodyPr>
          <a:lstStyle/>
          <a:p>
            <a:r>
              <a:rPr lang="en-US" sz="2100" b="1"/>
              <a:t>Q6.) Product manager responsible for coffee is interested in sales of coffee across all the states. Which state has the highest coffee sales? Show it on a geo graph and a table. From the geo</a:t>
            </a:r>
          </a:p>
          <a:p>
            <a:r>
              <a:rPr lang="en-US" sz="2100" b="1" dirty="0"/>
              <a:t>graph, can you identify the top 5 states for the highest coffee sales?</a:t>
            </a:r>
          </a:p>
        </p:txBody>
      </p:sp>
      <p:pic>
        <p:nvPicPr>
          <p:cNvPr id="11" name="Picture 10" descr="A graph of a bar graph&#10;&#10;AI-generated content may be incorrect.">
            <a:extLst>
              <a:ext uri="{FF2B5EF4-FFF2-40B4-BE49-F238E27FC236}">
                <a16:creationId xmlns:a16="http://schemas.microsoft.com/office/drawing/2014/main" id="{A7996224-CA30-ECC1-3392-E95360DF5D81}"/>
              </a:ext>
            </a:extLst>
          </p:cNvPr>
          <p:cNvPicPr>
            <a:picLocks noChangeAspect="1"/>
          </p:cNvPicPr>
          <p:nvPr/>
        </p:nvPicPr>
        <p:blipFill>
          <a:blip r:embed="rId2"/>
          <a:stretch>
            <a:fillRect/>
          </a:stretch>
        </p:blipFill>
        <p:spPr>
          <a:xfrm>
            <a:off x="2152650" y="1236139"/>
            <a:ext cx="7989570" cy="2596610"/>
          </a:xfrm>
          <a:prstGeom prst="rect">
            <a:avLst/>
          </a:prstGeom>
          <a:noFill/>
          <a:ln>
            <a:solidFill>
              <a:srgbClr val="FF0000"/>
            </a:solidFill>
          </a:ln>
        </p:spPr>
      </p:pic>
      <p:sp>
        <p:nvSpPr>
          <p:cNvPr id="4" name="Date Placeholder 3">
            <a:extLst>
              <a:ext uri="{FF2B5EF4-FFF2-40B4-BE49-F238E27FC236}">
                <a16:creationId xmlns:a16="http://schemas.microsoft.com/office/drawing/2014/main" id="{6151EBEA-2467-87BD-842A-D1068E93B192}"/>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 Professor Vishnu Pamula</a:t>
            </a:r>
          </a:p>
        </p:txBody>
      </p:sp>
      <p:sp>
        <p:nvSpPr>
          <p:cNvPr id="5" name="Footer Placeholder 4">
            <a:extLst>
              <a:ext uri="{FF2B5EF4-FFF2-40B4-BE49-F238E27FC236}">
                <a16:creationId xmlns:a16="http://schemas.microsoft.com/office/drawing/2014/main" id="{165669F4-1C39-8691-ED3A-DC4E2A590910}"/>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University of Pittsburgh - Johnstown</a:t>
            </a:r>
          </a:p>
        </p:txBody>
      </p:sp>
      <p:sp>
        <p:nvSpPr>
          <p:cNvPr id="6" name="Slide Number Placeholder 5">
            <a:extLst>
              <a:ext uri="{FF2B5EF4-FFF2-40B4-BE49-F238E27FC236}">
                <a16:creationId xmlns:a16="http://schemas.microsoft.com/office/drawing/2014/main" id="{53EA798C-5E81-6735-6A1E-B5E079AA1387}"/>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BB18165-63BA-465A-B0E3-50AEDDBFA692}" type="slidenum">
              <a:rPr lang="en-US" smtClean="0"/>
              <a:pPr>
                <a:spcAft>
                  <a:spcPts val="600"/>
                </a:spcAft>
              </a:pPr>
              <a:t>7</a:t>
            </a:fld>
            <a:endParaRPr lang="en-US"/>
          </a:p>
        </p:txBody>
      </p:sp>
      <p:pic>
        <p:nvPicPr>
          <p:cNvPr id="10" name="Picture 9" descr="A map of the united states&#10;&#10;AI-generated content may be incorrect.">
            <a:extLst>
              <a:ext uri="{FF2B5EF4-FFF2-40B4-BE49-F238E27FC236}">
                <a16:creationId xmlns:a16="http://schemas.microsoft.com/office/drawing/2014/main" id="{B4336764-9680-9E30-A895-F517725758E1}"/>
              </a:ext>
            </a:extLst>
          </p:cNvPr>
          <p:cNvPicPr>
            <a:picLocks noChangeAspect="1"/>
          </p:cNvPicPr>
          <p:nvPr/>
        </p:nvPicPr>
        <p:blipFill>
          <a:blip r:embed="rId3"/>
          <a:stretch>
            <a:fillRect/>
          </a:stretch>
        </p:blipFill>
        <p:spPr>
          <a:xfrm>
            <a:off x="2150745" y="3897458"/>
            <a:ext cx="3926204" cy="2265072"/>
          </a:xfrm>
          <a:prstGeom prst="rect">
            <a:avLst/>
          </a:prstGeom>
          <a:noFill/>
          <a:ln>
            <a:solidFill>
              <a:srgbClr val="FF0000"/>
            </a:solidFill>
          </a:ln>
        </p:spPr>
      </p:pic>
      <p:sp>
        <p:nvSpPr>
          <p:cNvPr id="12" name="TextBox 11">
            <a:extLst>
              <a:ext uri="{FF2B5EF4-FFF2-40B4-BE49-F238E27FC236}">
                <a16:creationId xmlns:a16="http://schemas.microsoft.com/office/drawing/2014/main" id="{F8E1E6CF-CAD1-1141-C2B7-D3777080895B}"/>
              </a:ext>
            </a:extLst>
          </p:cNvPr>
          <p:cNvSpPr txBox="1"/>
          <p:nvPr/>
        </p:nvSpPr>
        <p:spPr>
          <a:xfrm>
            <a:off x="9220200" y="172402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B2AF0DEF-835C-DF63-143B-9FAF6DF7AEA6}"/>
              </a:ext>
            </a:extLst>
          </p:cNvPr>
          <p:cNvSpPr txBox="1"/>
          <p:nvPr/>
        </p:nvSpPr>
        <p:spPr>
          <a:xfrm>
            <a:off x="6438900" y="4057650"/>
            <a:ext cx="3705225"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FF0000"/>
                </a:solidFill>
                <a:ea typeface="+mn-lt"/>
                <a:cs typeface="+mn-lt"/>
              </a:rPr>
              <a:t>The state with the highest coffee sales is California.</a:t>
            </a:r>
            <a:endParaRPr lang="en-US" sz="1200">
              <a:solidFill>
                <a:srgbClr val="FF0000"/>
              </a:solidFill>
              <a:ea typeface="Calibri"/>
              <a:cs typeface="Calibri"/>
            </a:endParaRPr>
          </a:p>
          <a:p>
            <a:r>
              <a:rPr lang="en-US" sz="1200">
                <a:solidFill>
                  <a:srgbClr val="FF0000"/>
                </a:solidFill>
                <a:ea typeface="+mn-lt"/>
                <a:cs typeface="+mn-lt"/>
              </a:rPr>
              <a:t>The top five states for coffee sales are:</a:t>
            </a:r>
          </a:p>
          <a:p>
            <a:pPr marL="171450" indent="-171450">
              <a:buFont typeface="Arial"/>
              <a:buChar char="•"/>
            </a:pPr>
            <a:r>
              <a:rPr lang="en-US" sz="1200">
                <a:solidFill>
                  <a:srgbClr val="FF0000"/>
                </a:solidFill>
                <a:ea typeface="Calibri"/>
                <a:cs typeface="Calibri"/>
              </a:rPr>
              <a:t>California</a:t>
            </a:r>
            <a:endParaRPr lang="en-US" sz="1200" dirty="0">
              <a:solidFill>
                <a:srgbClr val="FF0000"/>
              </a:solidFill>
              <a:ea typeface="Calibri"/>
              <a:cs typeface="Calibri"/>
            </a:endParaRPr>
          </a:p>
          <a:p>
            <a:pPr marL="171450" indent="-171450">
              <a:buFont typeface="Arial"/>
              <a:buChar char="•"/>
            </a:pPr>
            <a:r>
              <a:rPr lang="en-US" sz="1200">
                <a:solidFill>
                  <a:srgbClr val="FF0000"/>
                </a:solidFill>
                <a:ea typeface="Calibri"/>
                <a:cs typeface="Calibri"/>
              </a:rPr>
              <a:t>New York</a:t>
            </a:r>
            <a:endParaRPr lang="en-US" sz="1200" dirty="0">
              <a:solidFill>
                <a:srgbClr val="FF0000"/>
              </a:solidFill>
              <a:ea typeface="Calibri"/>
              <a:cs typeface="Calibri"/>
            </a:endParaRPr>
          </a:p>
          <a:p>
            <a:pPr marL="171450" indent="-171450">
              <a:buFont typeface="Arial"/>
              <a:buChar char="•"/>
            </a:pPr>
            <a:r>
              <a:rPr lang="en-US" sz="1200">
                <a:solidFill>
                  <a:srgbClr val="FF0000"/>
                </a:solidFill>
                <a:ea typeface="Calibri"/>
                <a:cs typeface="Calibri"/>
              </a:rPr>
              <a:t>Illinois</a:t>
            </a:r>
            <a:endParaRPr lang="en-US" sz="1200" dirty="0">
              <a:solidFill>
                <a:srgbClr val="FF0000"/>
              </a:solidFill>
              <a:ea typeface="Calibri"/>
              <a:cs typeface="Calibri"/>
            </a:endParaRPr>
          </a:p>
          <a:p>
            <a:pPr marL="171450" indent="-171450">
              <a:buFont typeface="Arial"/>
              <a:buChar char="•"/>
            </a:pPr>
            <a:r>
              <a:rPr lang="en-US" sz="1200">
                <a:solidFill>
                  <a:srgbClr val="FF0000"/>
                </a:solidFill>
                <a:ea typeface="Calibri"/>
                <a:cs typeface="Calibri"/>
              </a:rPr>
              <a:t>Nevada</a:t>
            </a:r>
          </a:p>
          <a:p>
            <a:pPr marL="171450" indent="-171450">
              <a:buFont typeface="Arial"/>
              <a:buChar char="•"/>
            </a:pPr>
            <a:r>
              <a:rPr lang="en-US" sz="1200">
                <a:solidFill>
                  <a:srgbClr val="FF0000"/>
                </a:solidFill>
                <a:ea typeface="Calibri"/>
                <a:cs typeface="Calibri"/>
              </a:rPr>
              <a:t>Iowa</a:t>
            </a:r>
          </a:p>
          <a:p>
            <a:r>
              <a:rPr lang="en-US" sz="1200">
                <a:solidFill>
                  <a:srgbClr val="FF0000"/>
                </a:solidFill>
                <a:ea typeface="+mn-lt"/>
                <a:cs typeface="+mn-lt"/>
              </a:rPr>
              <a:t>These states are likely to generate more coffee sales because of their large population, density, and demand for coffee products.</a:t>
            </a:r>
            <a:endParaRPr lang="en-US"/>
          </a:p>
        </p:txBody>
      </p:sp>
    </p:spTree>
    <p:extLst>
      <p:ext uri="{BB962C8B-B14F-4D97-AF65-F5344CB8AC3E}">
        <p14:creationId xmlns:p14="http://schemas.microsoft.com/office/powerpoint/2010/main" val="782859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765C9-B628-80F1-4BD9-856D60D53E37}"/>
              </a:ext>
            </a:extLst>
          </p:cNvPr>
          <p:cNvSpPr>
            <a:spLocks noGrp="1"/>
          </p:cNvSpPr>
          <p:nvPr>
            <p:ph type="title"/>
          </p:nvPr>
        </p:nvSpPr>
        <p:spPr>
          <a:xfrm>
            <a:off x="-1954" y="3663"/>
            <a:ext cx="10515600" cy="1325563"/>
          </a:xfrm>
        </p:spPr>
        <p:txBody>
          <a:bodyPr>
            <a:normAutofit/>
          </a:bodyPr>
          <a:lstStyle/>
          <a:p>
            <a:r>
              <a:rPr lang="en-US" sz="2000" b="1" dirty="0">
                <a:ea typeface="+mj-lt"/>
                <a:cs typeface="+mj-lt"/>
              </a:rPr>
              <a:t>Q7.) Look at Profit by Regions (Market) by product group and Type. Can you identify a region with negative Profit? Can you drill down and find out what is causing it? Find out which product</a:t>
            </a:r>
          </a:p>
          <a:p>
            <a:r>
              <a:rPr lang="en-US" sz="2000" b="1">
                <a:ea typeface="+mj-lt"/>
                <a:cs typeface="+mj-lt"/>
              </a:rPr>
              <a:t>and which state is causing negative sales? </a:t>
            </a:r>
          </a:p>
        </p:txBody>
      </p:sp>
      <p:sp>
        <p:nvSpPr>
          <p:cNvPr id="4" name="Date Placeholder 3">
            <a:extLst>
              <a:ext uri="{FF2B5EF4-FFF2-40B4-BE49-F238E27FC236}">
                <a16:creationId xmlns:a16="http://schemas.microsoft.com/office/drawing/2014/main" id="{5643DAD0-F6E6-0F29-4759-DC3EFF96A3E0}"/>
              </a:ext>
            </a:extLst>
          </p:cNvPr>
          <p:cNvSpPr>
            <a:spLocks noGrp="1"/>
          </p:cNvSpPr>
          <p:nvPr>
            <p:ph type="dt" sz="half" idx="10"/>
          </p:nvPr>
        </p:nvSpPr>
        <p:spPr/>
        <p:txBody>
          <a:bodyPr/>
          <a:lstStyle/>
          <a:p>
            <a:r>
              <a:rPr lang="en-US"/>
              <a:t>© Professor Vishnu Pamula</a:t>
            </a:r>
            <a:endParaRPr lang="en-US" dirty="0"/>
          </a:p>
        </p:txBody>
      </p:sp>
      <p:sp>
        <p:nvSpPr>
          <p:cNvPr id="5" name="Footer Placeholder 4">
            <a:extLst>
              <a:ext uri="{FF2B5EF4-FFF2-40B4-BE49-F238E27FC236}">
                <a16:creationId xmlns:a16="http://schemas.microsoft.com/office/drawing/2014/main" id="{9C019CA5-D89B-8E8B-D299-252589A0E812}"/>
              </a:ext>
            </a:extLst>
          </p:cNvPr>
          <p:cNvSpPr>
            <a:spLocks noGrp="1"/>
          </p:cNvSpPr>
          <p:nvPr>
            <p:ph type="ftr" sz="quarter" idx="11"/>
          </p:nvPr>
        </p:nvSpPr>
        <p:spPr/>
        <p:txBody>
          <a:body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527D07AD-C3C0-C27F-E916-043B2B745E28}"/>
              </a:ext>
            </a:extLst>
          </p:cNvPr>
          <p:cNvSpPr>
            <a:spLocks noGrp="1"/>
          </p:cNvSpPr>
          <p:nvPr>
            <p:ph type="sldNum" sz="quarter" idx="12"/>
          </p:nvPr>
        </p:nvSpPr>
        <p:spPr/>
        <p:txBody>
          <a:bodyPr/>
          <a:lstStyle/>
          <a:p>
            <a:fld id="{6BB18165-63BA-465A-B0E3-50AEDDBFA692}" type="slidenum">
              <a:rPr lang="en-US" smtClean="0"/>
              <a:t>8</a:t>
            </a:fld>
            <a:endParaRPr lang="en-US"/>
          </a:p>
        </p:txBody>
      </p:sp>
      <p:pic>
        <p:nvPicPr>
          <p:cNvPr id="7" name="Picture 6" descr="A graph with blue lines&#10;&#10;AI-generated content may be incorrect.">
            <a:extLst>
              <a:ext uri="{FF2B5EF4-FFF2-40B4-BE49-F238E27FC236}">
                <a16:creationId xmlns:a16="http://schemas.microsoft.com/office/drawing/2014/main" id="{428AC1CA-F5B2-8379-954D-56DBE26FA846}"/>
              </a:ext>
            </a:extLst>
          </p:cNvPr>
          <p:cNvPicPr>
            <a:picLocks noChangeAspect="1"/>
          </p:cNvPicPr>
          <p:nvPr/>
        </p:nvPicPr>
        <p:blipFill>
          <a:blip r:embed="rId2"/>
          <a:stretch>
            <a:fillRect/>
          </a:stretch>
        </p:blipFill>
        <p:spPr>
          <a:xfrm>
            <a:off x="58615" y="1713956"/>
            <a:ext cx="12084539" cy="1564165"/>
          </a:xfrm>
          <a:prstGeom prst="rect">
            <a:avLst/>
          </a:prstGeom>
          <a:ln>
            <a:solidFill>
              <a:srgbClr val="FF0000"/>
            </a:solidFill>
          </a:ln>
        </p:spPr>
      </p:pic>
    </p:spTree>
    <p:extLst>
      <p:ext uri="{BB962C8B-B14F-4D97-AF65-F5344CB8AC3E}">
        <p14:creationId xmlns:p14="http://schemas.microsoft.com/office/powerpoint/2010/main" val="925994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25D6-D744-AB30-D349-3ACFD4EF485A}"/>
              </a:ext>
            </a:extLst>
          </p:cNvPr>
          <p:cNvSpPr>
            <a:spLocks noGrp="1"/>
          </p:cNvSpPr>
          <p:nvPr>
            <p:ph type="title"/>
          </p:nvPr>
        </p:nvSpPr>
        <p:spPr>
          <a:xfrm>
            <a:off x="-1954" y="3663"/>
            <a:ext cx="10515600" cy="1325563"/>
          </a:xfrm>
        </p:spPr>
        <p:txBody>
          <a:bodyPr>
            <a:normAutofit/>
          </a:bodyPr>
          <a:lstStyle/>
          <a:p>
            <a:r>
              <a:rPr lang="en-US" sz="2000" b="1">
                <a:ea typeface="+mj-lt"/>
                <a:cs typeface="+mj-lt"/>
              </a:rPr>
              <a:t>Q8.) Can you find anything that is interesting that you can share with your group that may be important to the business?</a:t>
            </a:r>
            <a:endParaRPr lang="en-US" sz="2000" b="1">
              <a:ea typeface="Calibri Light"/>
              <a:cs typeface="Calibri Light"/>
            </a:endParaRPr>
          </a:p>
        </p:txBody>
      </p:sp>
      <p:sp>
        <p:nvSpPr>
          <p:cNvPr id="3" name="Content Placeholder 2">
            <a:extLst>
              <a:ext uri="{FF2B5EF4-FFF2-40B4-BE49-F238E27FC236}">
                <a16:creationId xmlns:a16="http://schemas.microsoft.com/office/drawing/2014/main" id="{A591FDF1-D3F4-1D56-6F72-541BEBD700A9}"/>
              </a:ext>
            </a:extLst>
          </p:cNvPr>
          <p:cNvSpPr>
            <a:spLocks noGrp="1"/>
          </p:cNvSpPr>
          <p:nvPr>
            <p:ph idx="1"/>
          </p:nvPr>
        </p:nvSpPr>
        <p:spPr/>
        <p:txBody>
          <a:bodyPr vert="horz" lIns="91440" tIns="45720" rIns="91440" bIns="45720" rtlCol="0" anchor="t">
            <a:normAutofit/>
          </a:bodyPr>
          <a:lstStyle/>
          <a:p>
            <a:r>
              <a:rPr lang="en-US">
                <a:ea typeface="Calibri"/>
                <a:cs typeface="Calibri"/>
              </a:rPr>
              <a:t>No</a:t>
            </a:r>
            <a:endParaRPr lang="en-US"/>
          </a:p>
        </p:txBody>
      </p:sp>
      <p:sp>
        <p:nvSpPr>
          <p:cNvPr id="4" name="Date Placeholder 3">
            <a:extLst>
              <a:ext uri="{FF2B5EF4-FFF2-40B4-BE49-F238E27FC236}">
                <a16:creationId xmlns:a16="http://schemas.microsoft.com/office/drawing/2014/main" id="{5BFAFADE-C55E-863F-EF11-74FD7641DA9F}"/>
              </a:ext>
            </a:extLst>
          </p:cNvPr>
          <p:cNvSpPr>
            <a:spLocks noGrp="1"/>
          </p:cNvSpPr>
          <p:nvPr>
            <p:ph type="dt" sz="half" idx="10"/>
          </p:nvPr>
        </p:nvSpPr>
        <p:spPr/>
        <p:txBody>
          <a:bodyPr/>
          <a:lstStyle/>
          <a:p>
            <a:r>
              <a:rPr lang="en-US"/>
              <a:t>© Professor Vishnu Pamula</a:t>
            </a:r>
            <a:endParaRPr lang="en-US" dirty="0"/>
          </a:p>
        </p:txBody>
      </p:sp>
      <p:sp>
        <p:nvSpPr>
          <p:cNvPr id="5" name="Footer Placeholder 4">
            <a:extLst>
              <a:ext uri="{FF2B5EF4-FFF2-40B4-BE49-F238E27FC236}">
                <a16:creationId xmlns:a16="http://schemas.microsoft.com/office/drawing/2014/main" id="{A4D8A1B5-FB5E-B21B-2BF4-94AF39FC1D83}"/>
              </a:ext>
            </a:extLst>
          </p:cNvPr>
          <p:cNvSpPr>
            <a:spLocks noGrp="1"/>
          </p:cNvSpPr>
          <p:nvPr>
            <p:ph type="ftr" sz="quarter" idx="11"/>
          </p:nvPr>
        </p:nvSpPr>
        <p:spPr/>
        <p:txBody>
          <a:bodyPr/>
          <a:lstStyle/>
          <a:p>
            <a:r>
              <a:rPr lang="en-US"/>
              <a:t>University of Pittsburgh - Johnstown</a:t>
            </a:r>
            <a:endParaRPr lang="en-US" dirty="0"/>
          </a:p>
        </p:txBody>
      </p:sp>
      <p:sp>
        <p:nvSpPr>
          <p:cNvPr id="6" name="Slide Number Placeholder 5">
            <a:extLst>
              <a:ext uri="{FF2B5EF4-FFF2-40B4-BE49-F238E27FC236}">
                <a16:creationId xmlns:a16="http://schemas.microsoft.com/office/drawing/2014/main" id="{84B0DECE-89CA-CC81-20AD-0D32CC5EFE92}"/>
              </a:ext>
            </a:extLst>
          </p:cNvPr>
          <p:cNvSpPr>
            <a:spLocks noGrp="1"/>
          </p:cNvSpPr>
          <p:nvPr>
            <p:ph type="sldNum" sz="quarter" idx="12"/>
          </p:nvPr>
        </p:nvSpPr>
        <p:spPr/>
        <p:txBody>
          <a:bodyPr/>
          <a:lstStyle/>
          <a:p>
            <a:fld id="{6BB18165-63BA-465A-B0E3-50AEDDBFA692}" type="slidenum">
              <a:rPr lang="en-US" smtClean="0"/>
              <a:t>9</a:t>
            </a:fld>
            <a:endParaRPr lang="en-US"/>
          </a:p>
        </p:txBody>
      </p:sp>
    </p:spTree>
    <p:extLst>
      <p:ext uri="{BB962C8B-B14F-4D97-AF65-F5344CB8AC3E}">
        <p14:creationId xmlns:p14="http://schemas.microsoft.com/office/powerpoint/2010/main" val="3008544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2073</TotalTime>
  <Words>397</Words>
  <Application>Microsoft Office PowerPoint</Application>
  <PresentationFormat>Widescreen</PresentationFormat>
  <Paragraphs>24</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04-Tableau Assignment 2</vt:lpstr>
      <vt:lpstr>Q1.) Your manager is interested in finding out if total sales by product type is affected by market size? Please create a report showing that. Show it both as a table and as a chart. What type of chart did you use? Why?</vt:lpstr>
      <vt:lpstr>Q2.) Which product types are doing better in small markets vs. large markets? Why do you think this is the case? </vt:lpstr>
      <vt:lpstr>Q3.) How are the total sales related to total profit by product type? Which product type has the highest profit vs. highest sales?</vt:lpstr>
      <vt:lpstr>Q4.) You are interested in finding out more about business in California. Show the profit margin and profit by Product and Product type. In which product/type the company is losing money in California? </vt:lpstr>
      <vt:lpstr>Q5.) Which Products are not available in decaf in California? Which products are only available in decaf (“Type” is the dimension for decaf and regular) </vt:lpstr>
      <vt:lpstr>Q6.) Product manager responsible for coffee is interested in sales of coffee across all the states. Which state has the highest coffee sales? Show it on a geo graph and a table. From the geo graph, can you identify the top 5 states for the highest coffee sales?</vt:lpstr>
      <vt:lpstr>Q7.) Look at Profit by Regions (Market) by product group and Type. Can you identify a region with negative Profit? Can you drill down and find out what is causing it? Find out which product and which state is causing negative sales? </vt:lpstr>
      <vt:lpstr>Q8.) Can you find anything that is interesting that you can share with your group that may be important to the business?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Intelligence &amp; Analytics Chapter 4 – Data Visualization with Tableau - Part 1</dc:title>
  <dc:creator>Vishnu Pamula</dc:creator>
  <cp:lastModifiedBy>Lucky Pamula</cp:lastModifiedBy>
  <cp:revision>275</cp:revision>
  <dcterms:created xsi:type="dcterms:W3CDTF">2020-12-02T02:43:39Z</dcterms:created>
  <dcterms:modified xsi:type="dcterms:W3CDTF">2026-02-27T04:59:00Z</dcterms:modified>
</cp:coreProperties>
</file>