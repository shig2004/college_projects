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5"/>
  </p:notesMasterIdLst>
  <p:sldIdLst>
    <p:sldId id="498" r:id="rId2"/>
    <p:sldId id="513" r:id="rId3"/>
    <p:sldId id="51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00"/>
    <a:srgbClr val="FF00FF"/>
    <a:srgbClr val="BF175F"/>
    <a:srgbClr val="C95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64510-267A-0E50-AB14-32155AA6209A}" v="381" dt="2026-02-19T19:35:45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4" autoAdjust="0"/>
    <p:restoredTop sz="94531" autoAdjust="0"/>
  </p:normalViewPr>
  <p:slideViewPr>
    <p:cSldViewPr snapToGrid="0">
      <p:cViewPr varScale="1">
        <p:scale>
          <a:sx n="78" d="100"/>
          <a:sy n="78" d="100"/>
        </p:scale>
        <p:origin x="840" y="77"/>
      </p:cViewPr>
      <p:guideLst/>
    </p:cSldViewPr>
  </p:slideViewPr>
  <p:outlineViewPr>
    <p:cViewPr>
      <p:scale>
        <a:sx n="33" d="100"/>
        <a:sy n="33" d="100"/>
      </p:scale>
      <p:origin x="0" y="-53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1B0E7-C880-46A6-A12C-1884105E41A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B55DC-5278-4CF2-9811-6642CB7F1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1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B55DC-5278-4CF2-9811-6642CB7F1C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2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B55DC-5278-4CF2-9811-6642CB7F1C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82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23B3-A2D8-4FA5-BCAD-2EF0B5923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70862-D6C6-43E5-B858-4E9BA5684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DF3F0-2F6C-4EE6-8916-0462605D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D6FE9-7258-4256-8E95-71100FA7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241D8-4E60-4904-9216-31AC58D1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A9676B4-8083-4581-98B3-7C0A411C58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99" y="40495"/>
            <a:ext cx="1645071" cy="71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0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DE26-63B8-4C7F-B2D2-F4167C0E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D385-169C-4452-B4DF-585A7E641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0CC4-F0BF-432F-99FF-87B8008E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7228E-AF85-47A1-AB34-08F2B939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CDC79-9DE1-42DB-8376-AABFA333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7643E56-11EE-4D44-9311-7A1BAB4B9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99" y="40495"/>
            <a:ext cx="1645071" cy="71149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D54FA6-8848-2A4D-8D72-E06E354782F6}"/>
              </a:ext>
            </a:extLst>
          </p:cNvPr>
          <p:cNvCxnSpPr/>
          <p:nvPr userDrawn="1"/>
        </p:nvCxnSpPr>
        <p:spPr>
          <a:xfrm>
            <a:off x="0" y="6385313"/>
            <a:ext cx="12192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12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6501-7104-47BE-8885-3D5F5B3C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CBE96-1B2E-4ABE-9ABA-9A610312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2B857-1EC5-48A7-8F81-A2E2759E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AE66-DD89-4BC9-9A74-0780D475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A394-123F-498E-B389-BC962263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9122C-DB0A-4BEF-B659-C3444D40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0303E-25FB-4EF2-8E73-E78AD11B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3E609-ED03-487D-BAD5-6555F9014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90471-A001-4C2E-A855-8AD87F399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D0F45-0113-4C73-B095-DB426E99E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18165-63BA-465A-B0E3-50AEDDBFA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DA32-6F0E-43F9-822C-D8519847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753"/>
            <a:ext cx="12192000" cy="779016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</a:rPr>
              <a:t>04-Tableau Assignment 1 – Chart 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25A316-F47A-404F-9DBC-0CC40DC8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B3544-42BA-B64A-B3DF-FF3D199F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5711D-F5DE-6D4C-8A7A-E9E4607817D6}"/>
              </a:ext>
            </a:extLst>
          </p:cNvPr>
          <p:cNvSpPr/>
          <p:nvPr/>
        </p:nvSpPr>
        <p:spPr>
          <a:xfrm>
            <a:off x="172278" y="852924"/>
            <a:ext cx="11237844" cy="641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“04-Tableau-Assignment-1-file” tableau file is prepackaged with sales information of fictitious Pharma company.  Open that file in Tableau and do the assignments in these two slides. 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18A8CF-B38E-B64F-88FB-8D0C8AC29964}"/>
              </a:ext>
            </a:extLst>
          </p:cNvPr>
          <p:cNvSpPr/>
          <p:nvPr/>
        </p:nvSpPr>
        <p:spPr>
          <a:xfrm>
            <a:off x="39757" y="1562783"/>
            <a:ext cx="11110023" cy="641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Bar chart with average prescription price over time by Month . Use Unit Price field for rows and Date field for Columns. </a:t>
            </a:r>
            <a:r>
              <a:rPr lang="en-US" sz="1600">
                <a:ea typeface="Calibri" panose="020F0502020204030204" pitchFamily="34" charset="0"/>
                <a:cs typeface="Times New Roman" panose="02020603050405020304" pitchFamily="18" charset="0"/>
              </a:rPr>
              <a:t>Select Month and Continuous as highlighted in the sample picture. 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screenshot of the Chart below: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97A69-E85C-6D42-88D9-C3A73F4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CBD3F2-A318-BB9E-0163-95C715EDD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2818" y="1173909"/>
            <a:ext cx="1175803" cy="3281407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48944360-7A45-09D9-5531-3D22FE77C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916" y="2197541"/>
            <a:ext cx="7514167" cy="416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27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DA32-6F0E-43F9-822C-D8519847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753"/>
            <a:ext cx="12192000" cy="779016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</a:rPr>
              <a:t>04-Tableau Assignment 1 – Chart 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25A316-F47A-404F-9DBC-0CC40DC8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B3544-42BA-B64A-B3DF-FF3D199F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5711D-F5DE-6D4C-8A7A-E9E4607817D6}"/>
              </a:ext>
            </a:extLst>
          </p:cNvPr>
          <p:cNvSpPr/>
          <p:nvPr/>
        </p:nvSpPr>
        <p:spPr>
          <a:xfrm>
            <a:off x="115956" y="784805"/>
            <a:ext cx="11237844" cy="851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Use the same Tableau workbook and create a new sheet do this task. </a:t>
            </a:r>
            <a:r>
              <a:rPr lang="en-US" sz="1600" dirty="0"/>
              <a:t>Add your Answers next to questions and Save file with your first and last name and upload into Canvas - 04 Tableau Assignment 1.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A3B4EB-A514-2F48-9B71-BBEEDFE558B0}"/>
              </a:ext>
            </a:extLst>
          </p:cNvPr>
          <p:cNvSpPr/>
          <p:nvPr/>
        </p:nvSpPr>
        <p:spPr>
          <a:xfrm>
            <a:off x="195290" y="1485678"/>
            <a:ext cx="11801419" cy="6420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 startAt="2"/>
            </a:pPr>
            <a:r>
              <a:rPr lang="en-US" sz="1600" dirty="0"/>
              <a:t>Create a visualization with prescription quantity in columns and profit on rows.  Use Dispensed Region for Color, Drug Supplier for Shape </a:t>
            </a:r>
            <a:r>
              <a:rPr lang="en-US" sz="1600"/>
              <a:t>and Dispensed Pharmacy for Detail mark. Insert a screenshot of the Chart below: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97A69-E85C-6D42-88D9-C3A73F4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F69D555-EE9B-9A4D-69CC-CA02D34DB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923" y="2125783"/>
            <a:ext cx="7722695" cy="4170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E59C72-1FEF-7A81-1D53-5AD1F80C7D24}"/>
              </a:ext>
            </a:extLst>
          </p:cNvPr>
          <p:cNvSpPr txBox="1"/>
          <p:nvPr/>
        </p:nvSpPr>
        <p:spPr>
          <a:xfrm>
            <a:off x="9596641" y="5713371"/>
            <a:ext cx="2596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Answers t</a:t>
            </a:r>
            <a:r>
              <a:rPr lang="en-US" dirty="0">
                <a:ea typeface="Calibri"/>
                <a:cs typeface="Calibri"/>
              </a:rPr>
              <a:t>o the questions are on the next slide...</a:t>
            </a:r>
          </a:p>
        </p:txBody>
      </p:sp>
    </p:spTree>
    <p:extLst>
      <p:ext uri="{BB962C8B-B14F-4D97-AF65-F5344CB8AC3E}">
        <p14:creationId xmlns:p14="http://schemas.microsoft.com/office/powerpoint/2010/main" val="3296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1922-FB46-CC72-28D2-D54E1977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Question and Answers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DC123-222C-0AE4-8020-A077F09A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4E311-0424-B955-5888-3FBA8FD2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C24D2-76CB-8EDD-ED15-251D13E2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20A0B-DCB1-A04F-920A-52075B6D1306}"/>
              </a:ext>
            </a:extLst>
          </p:cNvPr>
          <p:cNvSpPr/>
          <p:nvPr/>
        </p:nvSpPr>
        <p:spPr>
          <a:xfrm>
            <a:off x="698329" y="1933324"/>
            <a:ext cx="10792240" cy="23408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555555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Use the above viz and answer the following:</a:t>
            </a:r>
            <a:endParaRPr lang="en-US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55555"/>
                </a:solidFill>
                <a:ea typeface="Calibri"/>
                <a:cs typeface="Times New Roman"/>
              </a:rPr>
              <a:t>What pharmacy and drug supplier represented the highest profit mark on this viz, across all regions? 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Emily Phan +  </a:t>
            </a:r>
            <a:r>
              <a:rPr lang="en-US" sz="1600" dirty="0" err="1">
                <a:solidFill>
                  <a:srgbClr val="FF0000"/>
                </a:solidFill>
                <a:ea typeface="Calibri"/>
                <a:cs typeface="Times New Roman"/>
              </a:rPr>
              <a:t>TableauCuetical</a:t>
            </a:r>
            <a:endParaRPr lang="en-US" sz="1600" dirty="0" err="1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999"/>
              </a:lnSpc>
            </a:pPr>
            <a:endParaRPr lang="en-US" sz="1600" dirty="0">
              <a:solidFill>
                <a:srgbClr val="FF0000"/>
              </a:solidFill>
              <a:ea typeface="Calibri"/>
              <a:cs typeface="Times New Roman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55555"/>
                </a:solidFill>
                <a:ea typeface="Calibri"/>
                <a:cs typeface="Times New Roman"/>
              </a:rPr>
              <a:t>What pharmacy and drug supplier represented the highest profit mark on this viz in the East region?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 Grant Carroll + Competitor B</a:t>
            </a:r>
            <a:endParaRPr lang="en-US" sz="1600" dirty="0">
              <a:solidFill>
                <a:srgbClr val="555555"/>
              </a:solidFill>
              <a:ea typeface="Calibri"/>
              <a:cs typeface="Times New Roman"/>
            </a:endParaRPr>
          </a:p>
          <a:p>
            <a:pPr>
              <a:lnSpc>
                <a:spcPct val="114999"/>
              </a:lnSpc>
              <a:buFont typeface="Arial" panose="020B0604020202020204" pitchFamily="34" charset="0"/>
            </a:pPr>
            <a:endParaRPr lang="en-US" sz="1600" dirty="0">
              <a:solidFill>
                <a:srgbClr val="555555"/>
              </a:solidFill>
              <a:ea typeface="Calibri"/>
              <a:cs typeface="Times New Roman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55555"/>
                </a:solidFill>
                <a:ea typeface="Calibri"/>
                <a:cs typeface="Times New Roman"/>
              </a:rPr>
              <a:t>What pharmacy and drug supplier represented the least profit across all regions?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Dave Kipp + </a:t>
            </a:r>
            <a:r>
              <a:rPr lang="en-US" sz="1600" dirty="0" err="1">
                <a:solidFill>
                  <a:srgbClr val="FF0000"/>
                </a:solidFill>
                <a:ea typeface="Calibri"/>
                <a:cs typeface="Times New Roman"/>
              </a:rPr>
              <a:t>TableauCuetical</a:t>
            </a:r>
          </a:p>
        </p:txBody>
      </p:sp>
    </p:spTree>
    <p:extLst>
      <p:ext uri="{BB962C8B-B14F-4D97-AF65-F5344CB8AC3E}">
        <p14:creationId xmlns:p14="http://schemas.microsoft.com/office/powerpoint/2010/main" val="395921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2061</TotalTime>
  <Words>243</Words>
  <Application>Microsoft Office PowerPoint</Application>
  <PresentationFormat>Widescreen</PresentationFormat>
  <Paragraphs>18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04-Tableau Assignment 1 – Chart 1</vt:lpstr>
      <vt:lpstr>04-Tableau Assignment 1 – Chart 2</vt:lpstr>
      <vt:lpstr>Question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&amp; Analytics Chapter 4 – Data Visualization with Tableau - Part 1</dc:title>
  <dc:creator>Vishnu Pamula</dc:creator>
  <cp:lastModifiedBy>Lucky Pamula</cp:lastModifiedBy>
  <cp:revision>128</cp:revision>
  <dcterms:created xsi:type="dcterms:W3CDTF">2020-12-02T02:43:39Z</dcterms:created>
  <dcterms:modified xsi:type="dcterms:W3CDTF">2026-02-19T19:36:36Z</dcterms:modified>
</cp:coreProperties>
</file>