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4"/>
  </p:notesMasterIdLst>
  <p:sldIdLst>
    <p:sldId id="498" r:id="rId2"/>
    <p:sldId id="49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00"/>
    <a:srgbClr val="FF00FF"/>
    <a:srgbClr val="BF175F"/>
    <a:srgbClr val="C95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C641E2-515D-72DA-7C18-AEBB89D19F6D}" v="423" dt="2026-04-16T23:10:43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4" autoAdjust="0"/>
    <p:restoredTop sz="94531" autoAdjust="0"/>
  </p:normalViewPr>
  <p:slideViewPr>
    <p:cSldViewPr snapToGrid="0">
      <p:cViewPr varScale="1">
        <p:scale>
          <a:sx n="70" d="100"/>
          <a:sy n="70" d="100"/>
        </p:scale>
        <p:origin x="1128" y="278"/>
      </p:cViewPr>
      <p:guideLst/>
    </p:cSldViewPr>
  </p:slideViewPr>
  <p:outlineViewPr>
    <p:cViewPr>
      <p:scale>
        <a:sx n="33" d="100"/>
        <a:sy n="33" d="100"/>
      </p:scale>
      <p:origin x="0" y="-53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1B0E7-C880-46A6-A12C-1884105E41A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B55DC-5278-4CF2-9811-6642CB7F1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1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B55DC-5278-4CF2-9811-6642CB7F1C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28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23B3-A2D8-4FA5-BCAD-2EF0B5923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70862-D6C6-43E5-B858-4E9BA5684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DF3F0-2F6C-4EE6-8916-0462605D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D6FE9-7258-4256-8E95-71100FA7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241D8-4E60-4904-9216-31AC58D1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A9676B4-8083-4581-98B3-7C0A411C58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99" y="40495"/>
            <a:ext cx="1645071" cy="71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0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DE26-63B8-4C7F-B2D2-F4167C0E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D385-169C-4452-B4DF-585A7E641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0CC4-F0BF-432F-99FF-87B8008E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7228E-AF85-47A1-AB34-08F2B939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CDC79-9DE1-42DB-8376-AABFA333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7643E56-11EE-4D44-9311-7A1BAB4B93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99" y="40495"/>
            <a:ext cx="1645071" cy="71149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D54FA6-8848-2A4D-8D72-E06E354782F6}"/>
              </a:ext>
            </a:extLst>
          </p:cNvPr>
          <p:cNvCxnSpPr/>
          <p:nvPr userDrawn="1"/>
        </p:nvCxnSpPr>
        <p:spPr>
          <a:xfrm>
            <a:off x="0" y="6385313"/>
            <a:ext cx="12192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12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6501-7104-47BE-8885-3D5F5B3C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CBE96-1B2E-4ABE-9ABA-9A610312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2B857-1EC5-48A7-8F81-A2E2759E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CAE66-DD89-4BC9-9A74-0780D475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A394-123F-498E-B389-BC962263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9122C-DB0A-4BEF-B659-C3444D40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0303E-25FB-4EF2-8E73-E78AD11B1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3E609-ED03-487D-BAD5-6555F9014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90471-A001-4C2E-A855-8AD87F399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D0F45-0113-4C73-B095-DB426E99E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18165-63BA-465A-B0E3-50AEDDBFA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troller.pitt.edu/budget-financial-reporting/audited-financial-statement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DA32-6F0E-43F9-822C-D8519847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753"/>
            <a:ext cx="12192000" cy="779016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</a:rPr>
              <a:t>11-GenAI - Assignment #1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25A316-F47A-404F-9DBC-0CC40DC8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B3544-42BA-B64A-B3DF-FF3D199F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97A69-E85C-6D42-88D9-C3A73F4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1</a:t>
            </a:fld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7FBB9C6-670C-C5B6-467C-9A0F78EA3A95}"/>
              </a:ext>
            </a:extLst>
          </p:cNvPr>
          <p:cNvSpPr txBox="1">
            <a:spLocks/>
          </p:cNvSpPr>
          <p:nvPr/>
        </p:nvSpPr>
        <p:spPr>
          <a:xfrm>
            <a:off x="813620" y="1553933"/>
            <a:ext cx="9480754" cy="42319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540" lvl="1">
              <a:buFont typeface="Wingdings" panose="05000000000000000000" pitchFamily="2" charset="2"/>
              <a:buChar char="Ø"/>
            </a:pPr>
            <a:r>
              <a:rPr lang="en-US" dirty="0"/>
              <a:t>Download the recent financial statement for University of Pittsburgh. Link: </a:t>
            </a:r>
            <a:r>
              <a:rPr lang="en-US" dirty="0">
                <a:hlinkClick r:id="rId3"/>
              </a:rPr>
              <a:t>https://www.controller.pitt.edu/budget-financial-reporting/audited-financial-statements/</a:t>
            </a:r>
            <a:endParaRPr lang="en-US" dirty="0">
              <a:cs typeface="Calibri" panose="020F0502020204030204"/>
            </a:endParaRPr>
          </a:p>
          <a:p>
            <a:pPr marL="383540" lvl="1">
              <a:buFont typeface="Wingdings" panose="05000000000000000000" pitchFamily="2" charset="2"/>
              <a:buChar char="Ø"/>
            </a:pPr>
            <a:endParaRPr lang="en-US" dirty="0">
              <a:cs typeface="Calibri" panose="020F0502020204030204"/>
            </a:endParaRPr>
          </a:p>
          <a:p>
            <a:pPr marL="383540" lvl="1">
              <a:buFont typeface="Wingdings" panose="05000000000000000000" pitchFamily="2" charset="2"/>
              <a:buChar char="Ø"/>
            </a:pPr>
            <a:r>
              <a:rPr lang="en-US" dirty="0">
                <a:cs typeface="Calibri" panose="020F0502020204030204"/>
              </a:rPr>
              <a:t>Copy the pages that have tables i.e., From </a:t>
            </a:r>
            <a:r>
              <a:rPr lang="en-US" dirty="0"/>
              <a:t>CONSOLIDATED BALANCE SHEETS</a:t>
            </a:r>
            <a:r>
              <a:rPr lang="en-US" dirty="0">
                <a:cs typeface="Calibri" panose="020F0502020204030204"/>
              </a:rPr>
              <a:t> to </a:t>
            </a:r>
            <a:r>
              <a:rPr lang="en-US" dirty="0"/>
              <a:t>CONSOLIDATED STATEMENT OF CASH FLOWS and paste into ChatGPT.</a:t>
            </a:r>
          </a:p>
          <a:p>
            <a:pPr marL="383540" lvl="1">
              <a:buFont typeface="Wingdings" panose="05000000000000000000" pitchFamily="2" charset="2"/>
              <a:buChar char="Ø"/>
            </a:pPr>
            <a:endParaRPr lang="en-US" dirty="0">
              <a:cs typeface="Calibri" panose="020F0502020204030204"/>
            </a:endParaRPr>
          </a:p>
          <a:p>
            <a:pPr marL="383540" lvl="1">
              <a:buFont typeface="Wingdings" panose="05000000000000000000" pitchFamily="2" charset="2"/>
              <a:buChar char="Ø"/>
            </a:pPr>
            <a:r>
              <a:rPr lang="en-US" dirty="0"/>
              <a:t>Ask the following questions to ChatGPT and add the answers to this ppt file as additional slides. Upload the file to the assignment in Canvas:</a:t>
            </a:r>
            <a:endParaRPr lang="en-US" dirty="0">
              <a:cs typeface="Calibri" panose="020F0502020204030204"/>
            </a:endParaRPr>
          </a:p>
          <a:p>
            <a:pPr marL="640080" lvl="2">
              <a:buFont typeface="+mj-lt"/>
              <a:buAutoNum type="arabicPeriod"/>
            </a:pPr>
            <a:r>
              <a:rPr lang="en-US" sz="1800" b="0" i="0" dirty="0">
                <a:solidFill>
                  <a:srgbClr val="0F0F0F"/>
                </a:solidFill>
                <a:effectLst/>
                <a:latin typeface="Söhne"/>
              </a:rPr>
              <a:t>how much is the total assets</a:t>
            </a:r>
            <a:r>
              <a:rPr lang="en-US" sz="1800" dirty="0"/>
              <a:t>?</a:t>
            </a:r>
          </a:p>
          <a:p>
            <a:pPr marL="640080" lvl="2">
              <a:buFont typeface="+mj-lt"/>
              <a:buAutoNum type="arabicPeriod"/>
            </a:pPr>
            <a:r>
              <a:rPr lang="en-US" sz="1800" dirty="0"/>
              <a:t>What is the biggest Expense?</a:t>
            </a:r>
          </a:p>
          <a:p>
            <a:pPr marL="640080" lvl="2">
              <a:buFont typeface="+mj-lt"/>
              <a:buAutoNum type="arabicPeriod"/>
            </a:pPr>
            <a:r>
              <a:rPr lang="en-US" sz="1800" dirty="0"/>
              <a:t>What percentage of the total assets are cash and cash equivalents?</a:t>
            </a:r>
          </a:p>
          <a:p>
            <a:pPr marL="640080" lvl="2">
              <a:buFont typeface="+mj-lt"/>
              <a:buAutoNum type="arabicPeriod"/>
            </a:pPr>
            <a:r>
              <a:rPr lang="en-US" sz="1800" b="0" i="0" dirty="0">
                <a:solidFill>
                  <a:srgbClr val="0F0F0F"/>
                </a:solidFill>
                <a:effectLst/>
                <a:latin typeface="Söhne"/>
              </a:rPr>
              <a:t>can you summarize assets and liabilities?</a:t>
            </a:r>
          </a:p>
          <a:p>
            <a:pPr marL="640080" lvl="2">
              <a:buFont typeface="+mj-lt"/>
              <a:buAutoNum type="arabicPeriod"/>
            </a:pPr>
            <a:r>
              <a:rPr lang="en-US" sz="1800" b="0" i="0" dirty="0">
                <a:solidFill>
                  <a:srgbClr val="0F0F0F"/>
                </a:solidFill>
                <a:effectLst/>
                <a:latin typeface="Söhne"/>
              </a:rPr>
              <a:t>what is your observation on cash flows?</a:t>
            </a:r>
          </a:p>
          <a:p>
            <a:pPr marL="640080" lvl="2">
              <a:buFont typeface="+mj-lt"/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5427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BDE9-A309-404A-27CB-9F7E2A1B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69" y="3663"/>
            <a:ext cx="10515600" cy="1325563"/>
          </a:xfrm>
        </p:spPr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Answers (ChatGPT-5.3 Response)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311F6-C53E-A710-A5A7-36BAF0451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69" y="1327394"/>
            <a:ext cx="6285523" cy="5035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>
                <a:ea typeface="+mn-lt"/>
                <a:cs typeface="+mn-lt"/>
              </a:rPr>
              <a:t>How much is the total assets?</a:t>
            </a:r>
            <a:endParaRPr lang="en-US" sz="1200" b="1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total assets are: $10,911,582 (in thousands); $10.91 billion</a:t>
            </a: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>
                <a:ea typeface="Calibri"/>
                <a:cs typeface="Calibri"/>
              </a:rPr>
              <a:t>What percentage of the total assets are cash and cash equivalents?</a:t>
            </a:r>
            <a:endParaRPr lang="en-US" sz="1200"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Cash and cash equivalents = $41,397</a:t>
            </a:r>
            <a:endParaRPr lang="en-US" sz="1200"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Total assets = $10,911,582</a:t>
            </a: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41397 ÷ 10911582 ≈ 0.38%</a:t>
            </a: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>
                <a:ea typeface="Calibri"/>
                <a:cs typeface="Calibri"/>
              </a:rPr>
              <a:t>What</a:t>
            </a:r>
            <a:r>
              <a:rPr lang="en-US" sz="1200" b="1">
                <a:ea typeface="+mn-lt"/>
                <a:cs typeface="+mn-lt"/>
              </a:rPr>
              <a:t> is your observation on cash flows?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Here is</a:t>
            </a:r>
            <a:r>
              <a:rPr lang="en-US" sz="1200" dirty="0">
                <a:solidFill>
                  <a:srgbClr val="FF0000"/>
                </a:solidFill>
                <a:ea typeface="+mn-lt"/>
                <a:cs typeface="+mn-lt"/>
              </a:rPr>
              <a:t> the key takeaway:</a:t>
            </a: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</a:pPr>
            <a:r>
              <a:rPr lang="en-US" sz="1200" u="sng">
                <a:solidFill>
                  <a:srgbClr val="FF0000"/>
                </a:solidFill>
                <a:ea typeface="+mn-lt"/>
                <a:cs typeface="+mn-lt"/>
              </a:rPr>
              <a:t>Operating cash flow:</a:t>
            </a:r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-$133.8M (negative); Core operations used cash</a:t>
            </a:r>
            <a:endParaRPr lang="en-US" sz="120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</a:pPr>
            <a:r>
              <a:rPr lang="en-US" sz="1200" u="sng">
                <a:solidFill>
                  <a:srgbClr val="FF0000"/>
                </a:solidFill>
                <a:ea typeface="+mn-lt"/>
                <a:cs typeface="+mn-lt"/>
              </a:rPr>
              <a:t>Investing cash flow:</a:t>
            </a:r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+$34.6M; Selling investments offset large purchases</a:t>
            </a:r>
            <a:endParaRPr lang="en-US" sz="120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</a:pPr>
            <a:r>
              <a:rPr lang="en-US" sz="1200" u="sng">
                <a:solidFill>
                  <a:srgbClr val="FF0000"/>
                </a:solidFill>
                <a:ea typeface="+mn-lt"/>
                <a:cs typeface="+mn-lt"/>
              </a:rPr>
              <a:t>Financing cash flow:</a:t>
            </a:r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+$98.1M; Borrowing and contributions helped</a:t>
            </a:r>
            <a:endParaRPr lang="en-US" sz="120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</a:pPr>
            <a:r>
              <a:rPr lang="en-US" sz="1200" u="sng">
                <a:solidFill>
                  <a:srgbClr val="FF0000"/>
                </a:solidFill>
                <a:ea typeface="+mn-lt"/>
                <a:cs typeface="+mn-lt"/>
              </a:rPr>
              <a:t>Net change in cash:</a:t>
            </a:r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-$1.1M (small decrease)</a:t>
            </a:r>
            <a:endParaRPr lang="en-US" sz="1200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Overall Insight (Important)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university is not generating positive cash from operations, which can be a concern.</a:t>
            </a: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However, it is supported by:</a:t>
            </a: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Strong endowment investments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Financing activities (debt + contributions)</a:t>
            </a:r>
            <a:endParaRPr lang="en-US" sz="1200" dirty="0">
              <a:solidFill>
                <a:srgbClr val="FF0000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rgbClr val="FF0000"/>
                </a:solidFill>
                <a:ea typeface="+mn-lt"/>
                <a:cs typeface="+mn-lt"/>
              </a:rPr>
              <a:t>Cash 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stays</a:t>
            </a:r>
            <a:r>
              <a:rPr lang="en-US" sz="1200" dirty="0">
                <a:solidFill>
                  <a:srgbClr val="FF0000"/>
                </a:solidFill>
                <a:ea typeface="+mn-lt"/>
                <a:cs typeface="+mn-lt"/>
              </a:rPr>
              <a:t> stable but relies heavily on investments and external funding.</a:t>
            </a: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F4A38-99AF-87EB-EACD-BE1789B7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Professor Vishnu Pamula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099F-7947-FE2A-E972-5D994008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Pittsburgh - Johnstown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99F87-A01F-73BB-ED53-D0B59918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8165-63BA-465A-B0E3-50AEDDBFA692}" type="slidenum">
              <a:rPr lang="en-US" smtClean="0"/>
              <a:t>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3E49FD-7E02-E89B-3567-CE33D962C0D2}"/>
              </a:ext>
            </a:extLst>
          </p:cNvPr>
          <p:cNvSpPr txBox="1"/>
          <p:nvPr/>
        </p:nvSpPr>
        <p:spPr>
          <a:xfrm>
            <a:off x="7129096" y="1330243"/>
            <a:ext cx="4687275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+mn-lt"/>
                <a:cs typeface="+mn-lt"/>
              </a:rPr>
              <a:t>What is the biggest Expense?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largest expense is the Salaries and wages = $1,496,630 (in thousands); $1.50 billion</a:t>
            </a:r>
            <a:endParaRPr lang="en-US"/>
          </a:p>
          <a:p>
            <a:endParaRPr lang="en-US" sz="1200" b="1" dirty="0">
              <a:ea typeface="Calibri"/>
              <a:cs typeface="Calibri"/>
            </a:endParaRPr>
          </a:p>
          <a:p>
            <a:r>
              <a:rPr lang="en-US" sz="1200" b="1">
                <a:ea typeface="Calibri"/>
                <a:cs typeface="Calibri"/>
              </a:rPr>
              <a:t>Can you summarize assets and liabilities?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Assets (What the university owns):</a:t>
            </a:r>
            <a:endParaRPr lang="en-US" sz="120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Total: $10.91 billion</a:t>
            </a:r>
            <a:endParaRPr lang="en-US" sz="120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Largest components:</a:t>
            </a:r>
            <a:endParaRPr lang="en-US" sz="1200">
              <a:ea typeface="Calibri"/>
              <a:cs typeface="Calibri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Endowment investments: $6.19B (BIGGEST)</a:t>
            </a:r>
            <a:endParaRPr lang="en-US" sz="1200">
              <a:ea typeface="Calibri"/>
              <a:cs typeface="Calibri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Property, plant &amp; equipment: $3.37B</a:t>
            </a:r>
            <a:endParaRPr lang="en-US" sz="1200">
              <a:ea typeface="Calibri"/>
              <a:cs typeface="Calibri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Receivables: $494M</a:t>
            </a:r>
            <a:endParaRPr lang="en-US" sz="120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F0000"/>
                </a:solidFill>
                <a:ea typeface="Calibri"/>
                <a:cs typeface="Calibri"/>
              </a:rPr>
              <a:t>Small amount of cash ($41M)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Liabilities (What the university owes):</a:t>
            </a: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Total: $3.12 billion</a:t>
            </a: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Major liabilities:</a:t>
            </a:r>
            <a:endParaRPr lang="en-US" sz="1200" dirty="0">
              <a:solidFill>
                <a:srgbClr val="FF0000"/>
              </a:solidFill>
              <a:ea typeface="+mn-lt"/>
              <a:cs typeface="+mn-lt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Bonds &amp; notes payable: $1.64B</a:t>
            </a: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Postretirement obligations: $511M</a:t>
            </a:r>
            <a:endParaRPr lang="en-US" sz="1200" dirty="0">
              <a:solidFill>
                <a:srgbClr val="FF0000"/>
              </a:solidFill>
              <a:ea typeface="+mn-lt"/>
              <a:cs typeface="+mn-lt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Lease liabilities: $213M</a:t>
            </a: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Other items include payables, payroll, and deferred revenue</a:t>
            </a:r>
          </a:p>
          <a:p>
            <a:pPr marL="171450" indent="-171450">
              <a:buFont typeface="Arial"/>
              <a:buChar char="•"/>
            </a:pPr>
            <a:endParaRPr lang="en-US" sz="1200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Overall: Moderate debt level compared to assets</a:t>
            </a:r>
            <a:endParaRPr lang="en-US" sz="1200" dirty="0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2021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2088</TotalTime>
  <Words>134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11-GenAI - Assignment #1</vt:lpstr>
      <vt:lpstr>Answers (ChatGPT-5.3 Response)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 &amp; Analytics Chapter 4 – Data Visualization with Tableau - Part 1</dc:title>
  <dc:creator>Vishnu Pamula</dc:creator>
  <cp:lastModifiedBy>Lucky Pamula</cp:lastModifiedBy>
  <cp:revision>218</cp:revision>
  <dcterms:created xsi:type="dcterms:W3CDTF">2020-12-02T02:43:39Z</dcterms:created>
  <dcterms:modified xsi:type="dcterms:W3CDTF">2026-04-16T23:11:20Z</dcterms:modified>
</cp:coreProperties>
</file>